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0"/>
  </p:notesMasterIdLst>
  <p:sldIdLst>
    <p:sldId id="3632" r:id="rId3"/>
    <p:sldId id="257" r:id="rId4"/>
    <p:sldId id="3634" r:id="rId5"/>
    <p:sldId id="3637" r:id="rId6"/>
    <p:sldId id="3639" r:id="rId7"/>
    <p:sldId id="3093" r:id="rId8"/>
    <p:sldId id="363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64"/>
    <p:restoredTop sz="94651"/>
  </p:normalViewPr>
  <p:slideViewPr>
    <p:cSldViewPr snapToGrid="0" snapToObjects="1">
      <p:cViewPr varScale="1">
        <p:scale>
          <a:sx n="115" d="100"/>
          <a:sy n="115" d="100"/>
        </p:scale>
        <p:origin x="6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1704F-33E9-4D42-BFE7-0D57E1856A96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6F36BC-B4E0-1A41-9102-39001965ED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6086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F36BC-B4E0-1A41-9102-39001965ED46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078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28C3-0B9E-8ED3-6A1F-8651D6CE3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32CB70-0D8E-D215-71B9-CFC797EC7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D9A451-EBEC-4D0C-BF88-604EAAC61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ED1978-0575-1D23-0E6D-496DEB9DB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19D61-4B8C-2A4A-AE55-91E53C56E625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4690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ADCA4-B667-4025-BDBB-633DDEFA5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52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BCF3AB-0154-4924-8CE0-F33D04CB3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212"/>
            </a:lvl1pPr>
            <a:lvl2pPr marL="421310" indent="0" algn="ctr">
              <a:buNone/>
              <a:defRPr sz="1843"/>
            </a:lvl2pPr>
            <a:lvl3pPr marL="842620" indent="0" algn="ctr">
              <a:buNone/>
              <a:defRPr sz="1659"/>
            </a:lvl3pPr>
            <a:lvl4pPr marL="1263929" indent="0" algn="ctr">
              <a:buNone/>
              <a:defRPr sz="1474"/>
            </a:lvl4pPr>
            <a:lvl5pPr marL="1685239" indent="0" algn="ctr">
              <a:buNone/>
              <a:defRPr sz="1474"/>
            </a:lvl5pPr>
            <a:lvl6pPr marL="2106549" indent="0" algn="ctr">
              <a:buNone/>
              <a:defRPr sz="1474"/>
            </a:lvl6pPr>
            <a:lvl7pPr marL="2527859" indent="0" algn="ctr">
              <a:buNone/>
              <a:defRPr sz="1474"/>
            </a:lvl7pPr>
            <a:lvl8pPr marL="2949169" indent="0" algn="ctr">
              <a:buNone/>
              <a:defRPr sz="1474"/>
            </a:lvl8pPr>
            <a:lvl9pPr marL="3370478" indent="0" algn="ctr">
              <a:buNone/>
              <a:defRPr sz="1474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444B7D-70CA-4A75-A0E4-CB49143E1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12C14-2297-4181-A51D-57E71BB9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DB4764-313E-4EF0-9D89-647DEF8F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58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B4116-D1C2-44DD-8E18-9D3ACE31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9442AC-1630-42FC-B027-EC44F8DF4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5E2E2-0605-4FFE-A183-37C5CD032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134223-36F1-497D-AFC1-FCF85FA24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27F407-D26E-4DB0-AD87-8603DA40A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565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4ADB4-A623-4C1D-879D-19626E85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52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E03299-FD01-4562-87E8-998284FC0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212">
                <a:solidFill>
                  <a:schemeClr val="tx1">
                    <a:tint val="75000"/>
                  </a:schemeClr>
                </a:solidFill>
              </a:defRPr>
            </a:lvl1pPr>
            <a:lvl2pPr marL="421310" indent="0">
              <a:buNone/>
              <a:defRPr sz="1843">
                <a:solidFill>
                  <a:schemeClr val="tx1">
                    <a:tint val="75000"/>
                  </a:schemeClr>
                </a:solidFill>
              </a:defRPr>
            </a:lvl2pPr>
            <a:lvl3pPr marL="842620" indent="0">
              <a:buNone/>
              <a:defRPr sz="1659">
                <a:solidFill>
                  <a:schemeClr val="tx1">
                    <a:tint val="75000"/>
                  </a:schemeClr>
                </a:solidFill>
              </a:defRPr>
            </a:lvl3pPr>
            <a:lvl4pPr marL="126392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4pPr>
            <a:lvl5pPr marL="168523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5pPr>
            <a:lvl6pPr marL="210654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6pPr>
            <a:lvl7pPr marL="252785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7pPr>
            <a:lvl8pPr marL="294916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8pPr>
            <a:lvl9pPr marL="3370478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F7FA4C-6AB5-42A5-A80E-8FCD1702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38133F-A9BB-4FAA-B6FB-F92FF5F0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94E2C3-6BBA-4B93-A3D5-67192308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991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6664C-C7A3-47FE-8511-5F7A81AF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53517-5173-4924-B2A5-313D5E666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DF2281-01B4-4A91-B0F8-857FD9FE4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BC3F99-1C35-4660-B00D-0D86763D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A0B6D4-E468-4CCF-A396-4F00D162C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853531-FCCE-4975-88EF-423A1EC3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278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F0412-DCEE-4F5E-AD16-93BD73E6F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8641EB-B1E0-482F-B1F6-8A72D9D2A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212" b="1"/>
            </a:lvl1pPr>
            <a:lvl2pPr marL="421310" indent="0">
              <a:buNone/>
              <a:defRPr sz="1843" b="1"/>
            </a:lvl2pPr>
            <a:lvl3pPr marL="842620" indent="0">
              <a:buNone/>
              <a:defRPr sz="1659" b="1"/>
            </a:lvl3pPr>
            <a:lvl4pPr marL="1263929" indent="0">
              <a:buNone/>
              <a:defRPr sz="1474" b="1"/>
            </a:lvl4pPr>
            <a:lvl5pPr marL="1685239" indent="0">
              <a:buNone/>
              <a:defRPr sz="1474" b="1"/>
            </a:lvl5pPr>
            <a:lvl6pPr marL="2106549" indent="0">
              <a:buNone/>
              <a:defRPr sz="1474" b="1"/>
            </a:lvl6pPr>
            <a:lvl7pPr marL="2527859" indent="0">
              <a:buNone/>
              <a:defRPr sz="1474" b="1"/>
            </a:lvl7pPr>
            <a:lvl8pPr marL="2949169" indent="0">
              <a:buNone/>
              <a:defRPr sz="1474" b="1"/>
            </a:lvl8pPr>
            <a:lvl9pPr marL="3370478" indent="0">
              <a:buNone/>
              <a:defRPr sz="14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9A00CF-0502-4D2B-B8B8-765892DDE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F621DE-3452-454D-8392-960C240960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212" b="1"/>
            </a:lvl1pPr>
            <a:lvl2pPr marL="421310" indent="0">
              <a:buNone/>
              <a:defRPr sz="1843" b="1"/>
            </a:lvl2pPr>
            <a:lvl3pPr marL="842620" indent="0">
              <a:buNone/>
              <a:defRPr sz="1659" b="1"/>
            </a:lvl3pPr>
            <a:lvl4pPr marL="1263929" indent="0">
              <a:buNone/>
              <a:defRPr sz="1474" b="1"/>
            </a:lvl4pPr>
            <a:lvl5pPr marL="1685239" indent="0">
              <a:buNone/>
              <a:defRPr sz="1474" b="1"/>
            </a:lvl5pPr>
            <a:lvl6pPr marL="2106549" indent="0">
              <a:buNone/>
              <a:defRPr sz="1474" b="1"/>
            </a:lvl6pPr>
            <a:lvl7pPr marL="2527859" indent="0">
              <a:buNone/>
              <a:defRPr sz="1474" b="1"/>
            </a:lvl7pPr>
            <a:lvl8pPr marL="2949169" indent="0">
              <a:buNone/>
              <a:defRPr sz="1474" b="1"/>
            </a:lvl8pPr>
            <a:lvl9pPr marL="3370478" indent="0">
              <a:buNone/>
              <a:defRPr sz="14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F1F05E-F483-4534-B470-8D8D26135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8D51AC-F313-492D-80A5-E50707E7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AB9AC9-15FF-4722-8C7E-A9828BD3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3907CC-2FE6-4377-9BC4-BE3425B7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710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8C739-47AC-4C0E-BDCF-A55D8974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6A7427-C36C-42A0-8C1B-756F6A2A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C4D531-EDDC-4979-B51E-072041D0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9B3E8F-BEEF-4CEB-A07B-B8A7E9E8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216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D1DE50-5264-44DC-8453-185CD652C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1B8155-ACB1-467D-B619-6B978BAB8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07D630-B5FF-4FB7-AA3C-04FBA9F6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3803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6614A-EB43-4F0C-B1F4-930E379A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94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F5D194-7E1E-405F-A0D8-0C7455268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949"/>
            </a:lvl1pPr>
            <a:lvl2pPr>
              <a:defRPr sz="2580"/>
            </a:lvl2pPr>
            <a:lvl3pPr>
              <a:defRPr sz="2212"/>
            </a:lvl3pPr>
            <a:lvl4pPr>
              <a:defRPr sz="1843"/>
            </a:lvl4pPr>
            <a:lvl5pPr>
              <a:defRPr sz="1843"/>
            </a:lvl5pPr>
            <a:lvl6pPr>
              <a:defRPr sz="1843"/>
            </a:lvl6pPr>
            <a:lvl7pPr>
              <a:defRPr sz="1843"/>
            </a:lvl7pPr>
            <a:lvl8pPr>
              <a:defRPr sz="1843"/>
            </a:lvl8pPr>
            <a:lvl9pPr>
              <a:defRPr sz="18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C8AC27-6194-4AAA-B81C-5A0802FA8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7"/>
          </a:xfrm>
        </p:spPr>
        <p:txBody>
          <a:bodyPr/>
          <a:lstStyle>
            <a:lvl1pPr marL="0" indent="0">
              <a:buNone/>
              <a:defRPr sz="1474"/>
            </a:lvl1pPr>
            <a:lvl2pPr marL="421310" indent="0">
              <a:buNone/>
              <a:defRPr sz="1290"/>
            </a:lvl2pPr>
            <a:lvl3pPr marL="842620" indent="0">
              <a:buNone/>
              <a:defRPr sz="1106"/>
            </a:lvl3pPr>
            <a:lvl4pPr marL="1263929" indent="0">
              <a:buNone/>
              <a:defRPr sz="922"/>
            </a:lvl4pPr>
            <a:lvl5pPr marL="1685239" indent="0">
              <a:buNone/>
              <a:defRPr sz="922"/>
            </a:lvl5pPr>
            <a:lvl6pPr marL="2106549" indent="0">
              <a:buNone/>
              <a:defRPr sz="922"/>
            </a:lvl6pPr>
            <a:lvl7pPr marL="2527859" indent="0">
              <a:buNone/>
              <a:defRPr sz="922"/>
            </a:lvl7pPr>
            <a:lvl8pPr marL="2949169" indent="0">
              <a:buNone/>
              <a:defRPr sz="922"/>
            </a:lvl8pPr>
            <a:lvl9pPr marL="3370478" indent="0">
              <a:buNone/>
              <a:defRPr sz="9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FE2800-7787-401F-AC4C-B6C9DD65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D16614-5B4C-4B40-9684-2AFE308C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489E4C-6C05-40BA-86AE-1FA17B884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9061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74FDA-88FD-489C-995B-63BF53D3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94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32E90C-158D-4B22-A56C-B691F27F0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949"/>
            </a:lvl1pPr>
            <a:lvl2pPr marL="421310" indent="0">
              <a:buNone/>
              <a:defRPr sz="2580"/>
            </a:lvl2pPr>
            <a:lvl3pPr marL="842620" indent="0">
              <a:buNone/>
              <a:defRPr sz="2212"/>
            </a:lvl3pPr>
            <a:lvl4pPr marL="1263929" indent="0">
              <a:buNone/>
              <a:defRPr sz="1843"/>
            </a:lvl4pPr>
            <a:lvl5pPr marL="1685239" indent="0">
              <a:buNone/>
              <a:defRPr sz="1843"/>
            </a:lvl5pPr>
            <a:lvl6pPr marL="2106549" indent="0">
              <a:buNone/>
              <a:defRPr sz="1843"/>
            </a:lvl6pPr>
            <a:lvl7pPr marL="2527859" indent="0">
              <a:buNone/>
              <a:defRPr sz="1843"/>
            </a:lvl7pPr>
            <a:lvl8pPr marL="2949169" indent="0">
              <a:buNone/>
              <a:defRPr sz="1843"/>
            </a:lvl8pPr>
            <a:lvl9pPr marL="3370478" indent="0">
              <a:buNone/>
              <a:defRPr sz="1843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1FA3B0-5FF0-446E-8583-45B4A70AC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7"/>
          </a:xfrm>
        </p:spPr>
        <p:txBody>
          <a:bodyPr/>
          <a:lstStyle>
            <a:lvl1pPr marL="0" indent="0">
              <a:buNone/>
              <a:defRPr sz="1474"/>
            </a:lvl1pPr>
            <a:lvl2pPr marL="421310" indent="0">
              <a:buNone/>
              <a:defRPr sz="1290"/>
            </a:lvl2pPr>
            <a:lvl3pPr marL="842620" indent="0">
              <a:buNone/>
              <a:defRPr sz="1106"/>
            </a:lvl3pPr>
            <a:lvl4pPr marL="1263929" indent="0">
              <a:buNone/>
              <a:defRPr sz="922"/>
            </a:lvl4pPr>
            <a:lvl5pPr marL="1685239" indent="0">
              <a:buNone/>
              <a:defRPr sz="922"/>
            </a:lvl5pPr>
            <a:lvl6pPr marL="2106549" indent="0">
              <a:buNone/>
              <a:defRPr sz="922"/>
            </a:lvl6pPr>
            <a:lvl7pPr marL="2527859" indent="0">
              <a:buNone/>
              <a:defRPr sz="922"/>
            </a:lvl7pPr>
            <a:lvl8pPr marL="2949169" indent="0">
              <a:buNone/>
              <a:defRPr sz="922"/>
            </a:lvl8pPr>
            <a:lvl9pPr marL="3370478" indent="0">
              <a:buNone/>
              <a:defRPr sz="9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481377-B62D-442A-8610-CAF5B69F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6A7019-A241-4933-816F-2E97B4C0E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8B62D6-F9B3-4C83-A5FA-E84DEFD7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4870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2F84B-D7E3-4331-8194-A2545767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DF9737-88EF-48BE-8855-68CABE0A2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DFF28F-808A-4AF3-8FE1-197282FD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0D8819-0740-4BBB-97CF-A734C83AE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A01E67-D50B-41E5-A6C0-CE5F9A27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249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889B2A-A08A-4A34-B6DD-0D874B17C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E452A4-BBE8-4485-A09A-3DD3DB3BA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466D7-E41D-4085-BA0F-F79337CC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92BF6-D279-4066-A2FE-B93B57EAF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6D7A0A-89BC-4916-9D67-AE94F953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7668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8" y="6540500"/>
            <a:ext cx="226619" cy="23053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282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542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62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3D7AF4C-EF54-441B-94C6-E3AC2F2882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22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3342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oleObject" Target="../embeddings/oleObject2.bin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emf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60A31CAA-6852-D32F-01AF-63C431ED6273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5951066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14" imgW="7772400" imgH="10058400" progId="TCLayout.ActiveDocument.1">
                  <p:embed/>
                </p:oleObj>
              </mc:Choice>
              <mc:Fallback>
                <p:oleObj name="think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2EEFF11A-1A15-4E06-7733-F76F27B1DAAC}"/>
              </a:ext>
            </a:extLst>
          </p:cNvPr>
          <p:cNvGraphicFramePr>
            <a:graphicFrameLocks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2563554073"/>
              </p:ext>
            </p:extLst>
          </p:nvPr>
        </p:nvGraphicFramePr>
        <p:xfrm>
          <a:off x="1588" y="1723"/>
          <a:ext cx="1227" cy="1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18" imgW="7772400" imgH="10058400" progId="TCLayout.ActiveDocument.1">
                  <p:embed/>
                </p:oleObj>
              </mc:Choice>
              <mc:Fallback>
                <p:oleObj name="thinkcell 幻灯片" r:id="rId18" imgW="7772400" imgH="10058400" progId="TCLayout.ActiveDocument.1">
                  <p:embed/>
                  <p:pic>
                    <p:nvPicPr>
                      <p:cNvPr id="7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2EEFF11A-1A15-4E06-7733-F76F27B1DA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723"/>
                        <a:ext cx="1227" cy="17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48DFE1-9427-4A46-AE2A-F2B91C34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9929CC-E6A8-416B-9485-36BFAC3C4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0157BB-B35E-4C45-876F-433D3C5E1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B8C9C-3528-4915-8EB3-BC901E00CE40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222BAD-BA77-4B21-8C0B-A6D0D43E6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AC018-1D03-41DD-8069-3BACA6E82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261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842620" rtl="0" eaLnBrk="1" latinLnBrk="0" hangingPunct="1">
        <a:lnSpc>
          <a:spcPct val="90000"/>
        </a:lnSpc>
        <a:spcBef>
          <a:spcPct val="0"/>
        </a:spcBef>
        <a:buNone/>
        <a:defRPr sz="40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0655" indent="-210655" algn="l" defTabSz="842620" rtl="0" eaLnBrk="1" latinLnBrk="0" hangingPunct="1">
        <a:lnSpc>
          <a:spcPct val="90000"/>
        </a:lnSpc>
        <a:spcBef>
          <a:spcPts val="922"/>
        </a:spcBef>
        <a:buFont typeface="Arial" panose="020B0604020202020204" pitchFamily="34" charset="0"/>
        <a:buChar char="•"/>
        <a:defRPr sz="2580" kern="1200">
          <a:solidFill>
            <a:schemeClr val="tx1"/>
          </a:solidFill>
          <a:latin typeface="+mn-lt"/>
          <a:ea typeface="+mn-ea"/>
          <a:cs typeface="+mn-cs"/>
        </a:defRPr>
      </a:lvl1pPr>
      <a:lvl2pPr marL="631965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2212" kern="1200">
          <a:solidFill>
            <a:schemeClr val="tx1"/>
          </a:solidFill>
          <a:latin typeface="+mn-lt"/>
          <a:ea typeface="+mn-ea"/>
          <a:cs typeface="+mn-cs"/>
        </a:defRPr>
      </a:lvl2pPr>
      <a:lvl3pPr marL="1053275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843" kern="1200">
          <a:solidFill>
            <a:schemeClr val="tx1"/>
          </a:solidFill>
          <a:latin typeface="+mn-lt"/>
          <a:ea typeface="+mn-ea"/>
          <a:cs typeface="+mn-cs"/>
        </a:defRPr>
      </a:lvl3pPr>
      <a:lvl4pPr marL="147458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4pPr>
      <a:lvl5pPr marL="189589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5pPr>
      <a:lvl6pPr marL="231720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6pPr>
      <a:lvl7pPr marL="273851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7pPr>
      <a:lvl8pPr marL="315982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8pPr>
      <a:lvl9pPr marL="3581133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1pPr>
      <a:lvl2pPr marL="421310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2pPr>
      <a:lvl3pPr marL="842620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3pPr>
      <a:lvl4pPr marL="126392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4pPr>
      <a:lvl5pPr marL="168523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5pPr>
      <a:lvl6pPr marL="210654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6pPr>
      <a:lvl7pPr marL="252785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7pPr>
      <a:lvl8pPr marL="294916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8pPr>
      <a:lvl9pPr marL="3370478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agent.corp.kuaishou.com/ai/data-agent?shareId=9919783b93784a2396abd942be03e4ce" TargetMode="External"/><Relationship Id="rId2" Type="http://schemas.openxmlformats.org/officeDocument/2006/relationships/hyperlink" Target="https://earnest-circle-report.ai-data.corp.kuaishou.com/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dataagent.corp.kuaishou.com/ai/data-agent?shareId=41c3060b07a643afb4fe749d3d013cc5" TargetMode="External"/><Relationship Id="rId4" Type="http://schemas.openxmlformats.org/officeDocument/2006/relationships/hyperlink" Target="https://dataagent.corp.kuaishou.com/ai/data-agent?shareId=9ddcf2a2f50e429cb438e5beb8190f67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cell data - do not delete" hidden="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0802086"/>
              </p:ext>
            </p:extLst>
          </p:nvPr>
        </p:nvGraphicFramePr>
        <p:xfrm>
          <a:off x="1589" y="27066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4" imgW="6813550" imgH="8831580" progId="TCLayout.ActiveDocument.1">
                  <p:embed/>
                </p:oleObj>
              </mc:Choice>
              <mc:Fallback>
                <p:oleObj name="thinkcell 幻灯片" r:id="rId4" imgW="6813550" imgH="8831580" progId="TCLayout.ActiveDocument.1">
                  <p:embed/>
                  <p:pic>
                    <p:nvPicPr>
                      <p:cNvPr id="13" name="think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27066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"/>
          <p:cNvSpPr/>
          <p:nvPr/>
        </p:nvSpPr>
        <p:spPr>
          <a:xfrm>
            <a:off x="478155" y="611981"/>
            <a:ext cx="10930890" cy="190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/>
          <p:nvPr/>
        </p:nvSpPr>
        <p:spPr>
          <a:xfrm rot="5400000">
            <a:off x="5923280" y="-2639854"/>
            <a:ext cx="76200" cy="1089533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811530" y="611982"/>
            <a:ext cx="6525260" cy="19043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3685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转正述职汇报</a:t>
            </a:r>
            <a:endParaRPr sz="368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5000"/>
              </a:lnSpc>
            </a:pPr>
            <a:r>
              <a:rPr sz="1475" dirty="0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2026.10</a:t>
            </a:r>
          </a:p>
        </p:txBody>
      </p:sp>
      <p:sp>
        <p:nvSpPr>
          <p:cNvPr id="6" name="Rectangle 4"/>
          <p:cNvSpPr/>
          <p:nvPr/>
        </p:nvSpPr>
        <p:spPr>
          <a:xfrm>
            <a:off x="6365875" y="1667987"/>
            <a:ext cx="5043170" cy="8489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lang="zh-CN" altLang="en-US" sz="14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r>
              <a:rPr sz="14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475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张筱琦</a:t>
            </a:r>
            <a:endParaRPr sz="147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200" dirty="0" err="1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电商经营策略中心</a:t>
            </a:r>
            <a:r>
              <a:rPr sz="1200" dirty="0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</a:t>
            </a:r>
            <a:r>
              <a:rPr sz="1200" dirty="0" err="1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商业分析实习生</a:t>
            </a:r>
            <a:endParaRPr lang="en-US" sz="1200" dirty="0">
              <a:solidFill>
                <a:srgbClr val="DEEAF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lang="zh-CN" altLang="en-US" sz="1200" dirty="0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实习时长：</a:t>
            </a:r>
            <a:r>
              <a:rPr lang="en-US" altLang="zh-CN" sz="1200" dirty="0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13199" y="3242191"/>
            <a:ext cx="10897672" cy="2563774"/>
            <a:chOff x="7416" y="5915"/>
            <a:chExt cx="11507" cy="4037"/>
          </a:xfrm>
        </p:grpSpPr>
        <p:sp>
          <p:nvSpPr>
            <p:cNvPr id="12" name="Rounded Rectangle 7"/>
            <p:cNvSpPr/>
            <p:nvPr/>
          </p:nvSpPr>
          <p:spPr>
            <a:xfrm>
              <a:off x="7416" y="5915"/>
              <a:ext cx="11507" cy="4037"/>
            </a:xfrm>
            <a:prstGeom prst="roundRect">
              <a:avLst>
                <a:gd name="adj" fmla="val 8000"/>
              </a:avLst>
            </a:prstGeom>
            <a:solidFill>
              <a:srgbClr val="EEF4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10661" rtlCol="0" anchor="ctr"/>
            <a:lstStyle/>
            <a:p>
              <a:pPr algn="l">
                <a:lnSpc>
                  <a:spcPct val="115000"/>
                </a:lnSpc>
              </a:pPr>
              <a:endParaRPr sz="1105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: 圆顶角 87"/>
            <p:cNvSpPr/>
            <p:nvPr/>
          </p:nvSpPr>
          <p:spPr>
            <a:xfrm>
              <a:off x="11834" y="5915"/>
              <a:ext cx="2875" cy="490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6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实习经历</a:t>
              </a: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9A52F7D0-770D-D8F0-471E-8FD1B202F6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3700266"/>
            <a:ext cx="7772400" cy="19030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82296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9808" y="384048"/>
            <a:ext cx="89611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sz="2800" b="1" dirty="0">
                <a:solidFill>
                  <a:srgbClr val="1F4E79"/>
                </a:solidFill>
                <a:latin typeface="微软雅黑"/>
                <a:ea typeface="微软雅黑"/>
              </a:rPr>
              <a:t>主要工作任务</a:t>
            </a:r>
            <a:r>
              <a:rPr lang="en-US" sz="2800" b="1" dirty="0">
                <a:solidFill>
                  <a:srgbClr val="1F4E79"/>
                </a:solidFill>
                <a:latin typeface="微软雅黑"/>
                <a:ea typeface="微软雅黑"/>
              </a:rPr>
              <a:t>:6个月</a:t>
            </a:r>
            <a:r>
              <a:rPr lang="zh-CN" altLang="en-US" sz="280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从接需求做执行，到带框架找问题</a:t>
            </a:r>
            <a:endParaRPr sz="28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170432"/>
            <a:ext cx="10698480" cy="146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901952"/>
            <a:ext cx="86868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9968" y="4800600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lnSpc>
                <a:spcPct val="115000"/>
              </a:lnSpc>
            </a:pPr>
            <a:r>
              <a:rPr sz="1700" b="1" dirty="0" err="1">
                <a:solidFill>
                  <a:srgbClr val="1F4E79"/>
                </a:solidFill>
                <a:latin typeface="微软雅黑"/>
                <a:ea typeface="微软雅黑"/>
              </a:rPr>
              <a:t>项目</a:t>
            </a:r>
            <a:r>
              <a:rPr lang="zh-CN" altLang="en-US" sz="1700" b="1" dirty="0">
                <a:solidFill>
                  <a:srgbClr val="1F4E79"/>
                </a:solidFill>
                <a:latin typeface="微软雅黑"/>
                <a:ea typeface="微软雅黑"/>
              </a:rPr>
              <a:t>三</a:t>
            </a:r>
            <a:r>
              <a:rPr sz="1700" b="1" dirty="0">
                <a:solidFill>
                  <a:srgbClr val="1F4E79"/>
                </a:solidFill>
                <a:latin typeface="微软雅黑"/>
                <a:ea typeface="微软雅黑"/>
              </a:rPr>
              <a:t>：</a:t>
            </a:r>
            <a:r>
              <a:rPr sz="1700" b="1" dirty="0" err="1">
                <a:solidFill>
                  <a:srgbClr val="1F4E79"/>
                </a:solidFill>
                <a:latin typeface="微软雅黑"/>
                <a:ea typeface="微软雅黑"/>
              </a:rPr>
              <a:t>灵顺中小AI运营一期</a:t>
            </a:r>
            <a:endParaRPr sz="17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250" b="1" dirty="0">
                <a:solidFill>
                  <a:srgbClr val="2E75B6"/>
                </a:solidFill>
                <a:latin typeface="微软雅黑"/>
                <a:ea typeface="微软雅黑"/>
              </a:rPr>
              <a:t>学会验证：</a:t>
            </a:r>
            <a:r>
              <a:rPr lang="zh-CN" altLang="en-US" sz="1250" dirty="0">
                <a:solidFill>
                  <a:srgbClr val="595959"/>
                </a:solidFill>
                <a:latin typeface="微软雅黑"/>
                <a:ea typeface="微软雅黑"/>
              </a:rPr>
              <a:t>一个动作到底有没有用</a:t>
            </a:r>
          </a:p>
          <a:p>
            <a:r>
              <a:rPr lang="zh-CN" altLang="en-US" sz="1250" b="1" dirty="0">
                <a:solidFill>
                  <a:srgbClr val="2E75B6"/>
                </a:solidFill>
                <a:latin typeface="微软雅黑"/>
                <a:ea typeface="微软雅黑"/>
              </a:rPr>
              <a:t>产出：</a:t>
            </a:r>
            <a:r>
              <a:rPr lang="en" altLang="zh-CN" sz="1250" dirty="0">
                <a:solidFill>
                  <a:srgbClr val="595959"/>
                </a:solidFill>
                <a:latin typeface="微软雅黑"/>
                <a:ea typeface="微软雅黑"/>
              </a:rPr>
              <a:t>AI</a:t>
            </a:r>
            <a:r>
              <a:rPr lang="zh-CN" altLang="en-US" sz="1250" dirty="0">
                <a:solidFill>
                  <a:srgbClr val="595959"/>
                </a:solidFill>
                <a:latin typeface="微软雅黑"/>
                <a:ea typeface="微软雅黑"/>
              </a:rPr>
              <a:t>增不增产有了答案</a:t>
            </a:r>
            <a:r>
              <a:rPr lang="en-US" altLang="zh-CN" sz="1250" dirty="0">
                <a:solidFill>
                  <a:srgbClr val="595959"/>
                </a:solidFill>
                <a:latin typeface="微软雅黑"/>
                <a:ea typeface="微软雅黑"/>
              </a:rPr>
              <a:t>——</a:t>
            </a:r>
            <a:r>
              <a:rPr lang="en" altLang="zh-CN" sz="1250" dirty="0">
                <a:solidFill>
                  <a:srgbClr val="595959"/>
                </a:solidFill>
                <a:latin typeface="微软雅黑"/>
                <a:ea typeface="微软雅黑"/>
              </a:rPr>
              <a:t>DID</a:t>
            </a:r>
            <a:r>
              <a:rPr lang="zh-CN" altLang="en-US" sz="1250" dirty="0">
                <a:solidFill>
                  <a:srgbClr val="595959"/>
                </a:solidFill>
                <a:latin typeface="微软雅黑"/>
                <a:ea typeface="微软雅黑"/>
              </a:rPr>
              <a:t>净效应 </a:t>
            </a:r>
            <a:r>
              <a:rPr lang="en-US" altLang="zh-CN" sz="1250" dirty="0">
                <a:solidFill>
                  <a:srgbClr val="595959"/>
                </a:solidFill>
                <a:latin typeface="微软雅黑"/>
                <a:ea typeface="微软雅黑"/>
              </a:rPr>
              <a:t>+26.3%</a:t>
            </a:r>
            <a:r>
              <a:rPr lang="zh-CN" altLang="en-US" sz="1250" dirty="0">
                <a:solidFill>
                  <a:srgbClr val="595959"/>
                </a:solidFill>
                <a:latin typeface="微软雅黑"/>
                <a:ea typeface="微软雅黑"/>
              </a:rPr>
              <a:t>，支撑灰度推全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502152"/>
            <a:ext cx="86868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9968" y="1550822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lnSpc>
                <a:spcPct val="115000"/>
              </a:lnSpc>
            </a:pPr>
            <a:r>
              <a:rPr sz="1700" b="1" dirty="0" err="1">
                <a:solidFill>
                  <a:srgbClr val="1F4E79"/>
                </a:solidFill>
                <a:latin typeface="微软雅黑"/>
                <a:ea typeface="微软雅黑"/>
              </a:rPr>
              <a:t>项目</a:t>
            </a:r>
            <a:r>
              <a:rPr lang="zh-CN" altLang="en-US" sz="1700" b="1" dirty="0">
                <a:solidFill>
                  <a:srgbClr val="1F4E79"/>
                </a:solidFill>
                <a:latin typeface="微软雅黑"/>
                <a:ea typeface="微软雅黑"/>
              </a:rPr>
              <a:t>一</a:t>
            </a:r>
            <a:r>
              <a:rPr sz="1700" b="1" dirty="0">
                <a:solidFill>
                  <a:srgbClr val="1F4E79"/>
                </a:solidFill>
                <a:latin typeface="微软雅黑"/>
                <a:ea typeface="微软雅黑"/>
              </a:rPr>
              <a:t>：AI Agent </a:t>
            </a:r>
            <a:r>
              <a:rPr sz="1700" b="1" dirty="0" err="1">
                <a:solidFill>
                  <a:srgbClr val="1F4E79"/>
                </a:solidFill>
                <a:latin typeface="微软雅黑"/>
                <a:ea typeface="微软雅黑"/>
              </a:rPr>
              <a:t>分析自动化</a:t>
            </a:r>
            <a:endParaRPr sz="17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>
              <a:lnSpc>
                <a:spcPct val="115000"/>
              </a:lnSpc>
            </a:pPr>
            <a:r>
              <a:rPr lang="zh-CN" altLang="en-US" sz="1250" dirty="0">
                <a:solidFill>
                  <a:srgbClr val="595959"/>
                </a:solidFill>
                <a:latin typeface="微软雅黑"/>
                <a:ea typeface="微软雅黑"/>
              </a:rPr>
              <a:t>把重复的复盘分析固化给</a:t>
            </a:r>
            <a:r>
              <a:rPr lang="en" altLang="zh-CN" sz="1250" dirty="0">
                <a:solidFill>
                  <a:srgbClr val="595959"/>
                </a:solidFill>
                <a:latin typeface="微软雅黑"/>
                <a:ea typeface="微软雅黑"/>
              </a:rPr>
              <a:t>AI</a:t>
            </a:r>
            <a:endParaRPr sz="1250" dirty="0">
              <a:solidFill>
                <a:srgbClr val="595959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</a:pPr>
            <a:r>
              <a:rPr sz="1250" b="1" dirty="0">
                <a:solidFill>
                  <a:srgbClr val="2E75B6"/>
                </a:solidFill>
                <a:latin typeface="微软雅黑"/>
                <a:ea typeface="微软雅黑"/>
              </a:rPr>
              <a:t>产出：</a:t>
            </a:r>
            <a:r>
              <a:rPr sz="1250" b="0" dirty="0">
                <a:solidFill>
                  <a:srgbClr val="595959"/>
                </a:solidFill>
                <a:latin typeface="微软雅黑"/>
                <a:ea typeface="微软雅黑"/>
              </a:rPr>
              <a:t>单次复盘从3-4小时压缩到 25 </a:t>
            </a:r>
            <a:r>
              <a:rPr sz="1250" b="0" dirty="0" err="1">
                <a:solidFill>
                  <a:srgbClr val="595959"/>
                </a:solidFill>
                <a:latin typeface="微软雅黑"/>
                <a:ea typeface="微软雅黑"/>
              </a:rPr>
              <a:t>分钟</a:t>
            </a:r>
            <a:r>
              <a:rPr lang="zh-CN" altLang="en-US" sz="1250" b="0" dirty="0">
                <a:solidFill>
                  <a:srgbClr val="595959"/>
                </a:solidFill>
                <a:latin typeface="微软雅黑"/>
                <a:ea typeface="微软雅黑"/>
              </a:rPr>
              <a:t>，自动化成为组内资产</a:t>
            </a:r>
            <a:endParaRPr sz="1250" b="0" dirty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68680" y="5102352"/>
            <a:ext cx="86868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9968" y="3175711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lnSpc>
                <a:spcPct val="115000"/>
              </a:lnSpc>
            </a:pPr>
            <a:r>
              <a:rPr sz="1700" b="1" dirty="0" err="1">
                <a:solidFill>
                  <a:srgbClr val="1F4E79"/>
                </a:solidFill>
                <a:latin typeface="微软雅黑"/>
                <a:ea typeface="微软雅黑"/>
              </a:rPr>
              <a:t>项目</a:t>
            </a:r>
            <a:r>
              <a:rPr lang="zh-CN" altLang="en-US" sz="1700" b="1" dirty="0">
                <a:solidFill>
                  <a:srgbClr val="1F4E79"/>
                </a:solidFill>
                <a:latin typeface="微软雅黑"/>
                <a:ea typeface="微软雅黑"/>
              </a:rPr>
              <a:t>二</a:t>
            </a:r>
            <a:r>
              <a:rPr sz="1700" b="1" dirty="0">
                <a:solidFill>
                  <a:srgbClr val="1F4E79"/>
                </a:solidFill>
                <a:latin typeface="微软雅黑"/>
                <a:ea typeface="微软雅黑"/>
              </a:rPr>
              <a:t>：</a:t>
            </a:r>
            <a:r>
              <a:rPr sz="1700" b="1" dirty="0" err="1">
                <a:solidFill>
                  <a:srgbClr val="1F4E79"/>
                </a:solidFill>
                <a:latin typeface="微软雅黑"/>
                <a:ea typeface="微软雅黑"/>
              </a:rPr>
              <a:t>目标测算与常态化大盘分析</a:t>
            </a:r>
            <a:endParaRPr sz="17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</a:pPr>
            <a:r>
              <a:rPr lang="zh-CN" altLang="en-US" sz="1250" b="0" dirty="0">
                <a:solidFill>
                  <a:srgbClr val="595959"/>
                </a:solidFill>
                <a:latin typeface="微软雅黑"/>
                <a:ea typeface="微软雅黑"/>
              </a:rPr>
              <a:t>把</a:t>
            </a:r>
            <a:r>
              <a:rPr lang="en" sz="1250" b="0" dirty="0">
                <a:solidFill>
                  <a:srgbClr val="595959"/>
                </a:solidFill>
                <a:latin typeface="微软雅黑"/>
                <a:ea typeface="微软雅黑"/>
              </a:rPr>
              <a:t>GMV</a:t>
            </a:r>
            <a:r>
              <a:rPr lang="zh-CN" altLang="en-US" sz="1250" b="0" dirty="0">
                <a:solidFill>
                  <a:srgbClr val="595959"/>
                </a:solidFill>
                <a:latin typeface="微软雅黑"/>
                <a:ea typeface="微软雅黑"/>
              </a:rPr>
              <a:t>结果目标翻译成过程目标 </a:t>
            </a:r>
            <a:r>
              <a:rPr lang="en-US" altLang="zh-CN" sz="1250" b="0" dirty="0">
                <a:solidFill>
                  <a:srgbClr val="595959"/>
                </a:solidFill>
                <a:latin typeface="微软雅黑"/>
                <a:ea typeface="微软雅黑"/>
              </a:rPr>
              <a:t>· </a:t>
            </a:r>
            <a:r>
              <a:rPr lang="zh-CN" altLang="en-US" sz="1250" b="0" dirty="0">
                <a:solidFill>
                  <a:srgbClr val="595959"/>
                </a:solidFill>
                <a:latin typeface="微软雅黑"/>
                <a:ea typeface="微软雅黑"/>
              </a:rPr>
              <a:t>大量</a:t>
            </a:r>
            <a:r>
              <a:rPr lang="en" sz="1250" b="0" dirty="0">
                <a:solidFill>
                  <a:srgbClr val="595959"/>
                </a:solidFill>
                <a:latin typeface="微软雅黑"/>
                <a:ea typeface="微软雅黑"/>
              </a:rPr>
              <a:t>BR</a:t>
            </a:r>
            <a:r>
              <a:rPr lang="zh-CN" altLang="en-US" sz="1250" b="0" dirty="0">
                <a:solidFill>
                  <a:srgbClr val="595959"/>
                </a:solidFill>
                <a:latin typeface="微软雅黑"/>
                <a:ea typeface="微软雅黑"/>
              </a:rPr>
              <a:t>复盘沉淀大盘下拆框架</a:t>
            </a:r>
          </a:p>
          <a:p>
            <a:pPr>
              <a:lnSpc>
                <a:spcPct val="115000"/>
              </a:lnSpc>
            </a:pPr>
            <a:r>
              <a:rPr sz="1250" b="1" dirty="0" err="1">
                <a:solidFill>
                  <a:srgbClr val="2E75B6"/>
                </a:solidFill>
                <a:latin typeface="微软雅黑"/>
                <a:ea typeface="微软雅黑"/>
              </a:rPr>
              <a:t>产出</a:t>
            </a:r>
            <a:r>
              <a:rPr sz="1250" b="1" dirty="0">
                <a:solidFill>
                  <a:srgbClr val="2E75B6"/>
                </a:solidFill>
                <a:latin typeface="微软雅黑"/>
                <a:ea typeface="微软雅黑"/>
              </a:rPr>
              <a:t>：</a:t>
            </a:r>
            <a:r>
              <a:rPr lang="zh-CN" altLang="en-US" sz="1250" b="0" dirty="0">
                <a:solidFill>
                  <a:srgbClr val="595959"/>
                </a:solidFill>
                <a:latin typeface="微软雅黑"/>
                <a:ea typeface="微软雅黑"/>
              </a:rPr>
              <a:t>目标下发且达成一致 ｜ </a:t>
            </a:r>
            <a:r>
              <a:rPr lang="en" altLang="zh-CN" sz="1250" b="0" dirty="0">
                <a:solidFill>
                  <a:srgbClr val="595959"/>
                </a:solidFill>
                <a:latin typeface="微软雅黑"/>
                <a:ea typeface="微软雅黑"/>
              </a:rPr>
              <a:t>BR</a:t>
            </a:r>
            <a:r>
              <a:rPr lang="zh-CN" altLang="en-US" sz="1250" b="0" dirty="0">
                <a:solidFill>
                  <a:srgbClr val="595959"/>
                </a:solidFill>
                <a:latin typeface="微软雅黑"/>
                <a:ea typeface="微软雅黑"/>
              </a:rPr>
              <a:t>下拆框架将融入</a:t>
            </a:r>
            <a:r>
              <a:rPr lang="en" altLang="zh-CN" sz="1250" b="0" dirty="0">
                <a:solidFill>
                  <a:srgbClr val="595959"/>
                </a:solidFill>
                <a:latin typeface="微软雅黑"/>
                <a:ea typeface="微软雅黑"/>
              </a:rPr>
              <a:t>Agent</a:t>
            </a:r>
            <a:r>
              <a:rPr lang="zh-CN" altLang="en-US" sz="1250" b="0" dirty="0">
                <a:solidFill>
                  <a:srgbClr val="595959"/>
                </a:solidFill>
                <a:latin typeface="微软雅黑"/>
                <a:ea typeface="微软雅黑"/>
              </a:rPr>
              <a:t>自动化（进行中）</a:t>
            </a:r>
            <a:endParaRPr sz="1250" b="0" dirty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9808" y="6172200"/>
            <a:ext cx="10698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其他支持：数据需求提报SOP ｜ 品牌池筛选与校验 ｜ 618激励核算 ｜ 人设商家大场现状分析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7F0155A0-BC5E-45F1-87A2-F5182BE40DD8}"/>
              </a:ext>
            </a:extLst>
          </p:cNvPr>
          <p:cNvSpPr/>
          <p:nvPr/>
        </p:nvSpPr>
        <p:spPr>
          <a:xfrm>
            <a:off x="1522626" y="3060008"/>
            <a:ext cx="536869" cy="1328452"/>
          </a:xfrm>
          <a:custGeom>
            <a:avLst/>
            <a:gdLst>
              <a:gd name="connsiteX0" fmla="*/ 581406 w 581406"/>
              <a:gd name="connsiteY0" fmla="*/ 275844 h 1438655"/>
              <a:gd name="connsiteX1" fmla="*/ 581406 w 581406"/>
              <a:gd name="connsiteY1" fmla="*/ 1162812 h 1438655"/>
              <a:gd name="connsiteX2" fmla="*/ 305562 w 581406"/>
              <a:gd name="connsiteY2" fmla="*/ 1438656 h 1438655"/>
              <a:gd name="connsiteX3" fmla="*/ 275844 w 581406"/>
              <a:gd name="connsiteY3" fmla="*/ 1438656 h 1438655"/>
              <a:gd name="connsiteX4" fmla="*/ 0 w 581406"/>
              <a:gd name="connsiteY4" fmla="*/ 1162812 h 1438655"/>
              <a:gd name="connsiteX5" fmla="*/ 0 w 581406"/>
              <a:gd name="connsiteY5" fmla="*/ 275844 h 1438655"/>
              <a:gd name="connsiteX6" fmla="*/ 275844 w 581406"/>
              <a:gd name="connsiteY6" fmla="*/ 0 h 1438655"/>
              <a:gd name="connsiteX7" fmla="*/ 305562 w 581406"/>
              <a:gd name="connsiteY7" fmla="*/ 0 h 1438655"/>
              <a:gd name="connsiteX8" fmla="*/ 581406 w 581406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6" h="1438655">
                <a:moveTo>
                  <a:pt x="581406" y="275844"/>
                </a:moveTo>
                <a:lnTo>
                  <a:pt x="581406" y="1162812"/>
                </a:lnTo>
                <a:cubicBezTo>
                  <a:pt x="581406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6" y="123444"/>
                  <a:pt x="581406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5118AEA-1A59-4528-A89E-98B8AE9CC554}"/>
              </a:ext>
            </a:extLst>
          </p:cNvPr>
          <p:cNvSpPr/>
          <p:nvPr/>
        </p:nvSpPr>
        <p:spPr>
          <a:xfrm>
            <a:off x="3735906" y="3060008"/>
            <a:ext cx="536869" cy="1328452"/>
          </a:xfrm>
          <a:custGeom>
            <a:avLst/>
            <a:gdLst>
              <a:gd name="connsiteX0" fmla="*/ 581406 w 581406"/>
              <a:gd name="connsiteY0" fmla="*/ 275844 h 1438655"/>
              <a:gd name="connsiteX1" fmla="*/ 581406 w 581406"/>
              <a:gd name="connsiteY1" fmla="*/ 1162812 h 1438655"/>
              <a:gd name="connsiteX2" fmla="*/ 305562 w 581406"/>
              <a:gd name="connsiteY2" fmla="*/ 1438656 h 1438655"/>
              <a:gd name="connsiteX3" fmla="*/ 275844 w 581406"/>
              <a:gd name="connsiteY3" fmla="*/ 1438656 h 1438655"/>
              <a:gd name="connsiteX4" fmla="*/ 0 w 581406"/>
              <a:gd name="connsiteY4" fmla="*/ 1162812 h 1438655"/>
              <a:gd name="connsiteX5" fmla="*/ 0 w 581406"/>
              <a:gd name="connsiteY5" fmla="*/ 275844 h 1438655"/>
              <a:gd name="connsiteX6" fmla="*/ 275844 w 581406"/>
              <a:gd name="connsiteY6" fmla="*/ 0 h 1438655"/>
              <a:gd name="connsiteX7" fmla="*/ 305562 w 581406"/>
              <a:gd name="connsiteY7" fmla="*/ 0 h 1438655"/>
              <a:gd name="connsiteX8" fmla="*/ 581406 w 581406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6" h="1438655">
                <a:moveTo>
                  <a:pt x="581406" y="275844"/>
                </a:moveTo>
                <a:lnTo>
                  <a:pt x="581406" y="1162812"/>
                </a:lnTo>
                <a:cubicBezTo>
                  <a:pt x="581406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6" y="123444"/>
                  <a:pt x="581406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15A1B101-8472-49DC-A33B-940B6D3A28DD}"/>
              </a:ext>
            </a:extLst>
          </p:cNvPr>
          <p:cNvSpPr/>
          <p:nvPr/>
        </p:nvSpPr>
        <p:spPr>
          <a:xfrm>
            <a:off x="5940460" y="3060008"/>
            <a:ext cx="536869" cy="1328452"/>
          </a:xfrm>
          <a:custGeom>
            <a:avLst/>
            <a:gdLst>
              <a:gd name="connsiteX0" fmla="*/ 581406 w 581406"/>
              <a:gd name="connsiteY0" fmla="*/ 275844 h 1438655"/>
              <a:gd name="connsiteX1" fmla="*/ 581406 w 581406"/>
              <a:gd name="connsiteY1" fmla="*/ 1162812 h 1438655"/>
              <a:gd name="connsiteX2" fmla="*/ 305562 w 581406"/>
              <a:gd name="connsiteY2" fmla="*/ 1438656 h 1438655"/>
              <a:gd name="connsiteX3" fmla="*/ 275844 w 581406"/>
              <a:gd name="connsiteY3" fmla="*/ 1438656 h 1438655"/>
              <a:gd name="connsiteX4" fmla="*/ 0 w 581406"/>
              <a:gd name="connsiteY4" fmla="*/ 1162812 h 1438655"/>
              <a:gd name="connsiteX5" fmla="*/ 0 w 581406"/>
              <a:gd name="connsiteY5" fmla="*/ 275844 h 1438655"/>
              <a:gd name="connsiteX6" fmla="*/ 275844 w 581406"/>
              <a:gd name="connsiteY6" fmla="*/ 0 h 1438655"/>
              <a:gd name="connsiteX7" fmla="*/ 305562 w 581406"/>
              <a:gd name="connsiteY7" fmla="*/ 0 h 1438655"/>
              <a:gd name="connsiteX8" fmla="*/ 581406 w 581406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6" h="1438655">
                <a:moveTo>
                  <a:pt x="581406" y="275844"/>
                </a:moveTo>
                <a:lnTo>
                  <a:pt x="581406" y="1162812"/>
                </a:lnTo>
                <a:cubicBezTo>
                  <a:pt x="581406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6" y="123444"/>
                  <a:pt x="581406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ACDEF2EF-79B9-4ABB-ADEE-F3B820F4409A}"/>
              </a:ext>
            </a:extLst>
          </p:cNvPr>
          <p:cNvSpPr/>
          <p:nvPr/>
        </p:nvSpPr>
        <p:spPr>
          <a:xfrm>
            <a:off x="8148005" y="3060008"/>
            <a:ext cx="536868" cy="1328452"/>
          </a:xfrm>
          <a:custGeom>
            <a:avLst/>
            <a:gdLst>
              <a:gd name="connsiteX0" fmla="*/ 581405 w 581405"/>
              <a:gd name="connsiteY0" fmla="*/ 275844 h 1438655"/>
              <a:gd name="connsiteX1" fmla="*/ 581405 w 581405"/>
              <a:gd name="connsiteY1" fmla="*/ 1162812 h 1438655"/>
              <a:gd name="connsiteX2" fmla="*/ 305562 w 581405"/>
              <a:gd name="connsiteY2" fmla="*/ 1438656 h 1438655"/>
              <a:gd name="connsiteX3" fmla="*/ 275844 w 581405"/>
              <a:gd name="connsiteY3" fmla="*/ 1438656 h 1438655"/>
              <a:gd name="connsiteX4" fmla="*/ 0 w 581405"/>
              <a:gd name="connsiteY4" fmla="*/ 1162812 h 1438655"/>
              <a:gd name="connsiteX5" fmla="*/ 0 w 581405"/>
              <a:gd name="connsiteY5" fmla="*/ 275844 h 1438655"/>
              <a:gd name="connsiteX6" fmla="*/ 275844 w 581405"/>
              <a:gd name="connsiteY6" fmla="*/ 0 h 1438655"/>
              <a:gd name="connsiteX7" fmla="*/ 305562 w 581405"/>
              <a:gd name="connsiteY7" fmla="*/ 0 h 1438655"/>
              <a:gd name="connsiteX8" fmla="*/ 581405 w 581405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5" h="1438655">
                <a:moveTo>
                  <a:pt x="581405" y="275844"/>
                </a:moveTo>
                <a:lnTo>
                  <a:pt x="581405" y="1162812"/>
                </a:lnTo>
                <a:cubicBezTo>
                  <a:pt x="581405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5" y="123444"/>
                  <a:pt x="581405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A46D6CC-26E2-4E32-B64D-3FB0FC03AF29}"/>
              </a:ext>
            </a:extLst>
          </p:cNvPr>
          <p:cNvSpPr/>
          <p:nvPr/>
        </p:nvSpPr>
        <p:spPr>
          <a:xfrm>
            <a:off x="1734059" y="1887762"/>
            <a:ext cx="70363" cy="70363"/>
          </a:xfrm>
          <a:custGeom>
            <a:avLst/>
            <a:gdLst>
              <a:gd name="connsiteX0" fmla="*/ 76200 w 76200"/>
              <a:gd name="connsiteY0" fmla="*/ 38100 h 76200"/>
              <a:gd name="connsiteX1" fmla="*/ 38100 w 76200"/>
              <a:gd name="connsiteY1" fmla="*/ 76200 h 76200"/>
              <a:gd name="connsiteX2" fmla="*/ 0 w 76200"/>
              <a:gd name="connsiteY2" fmla="*/ 38100 h 76200"/>
              <a:gd name="connsiteX3" fmla="*/ 38100 w 76200"/>
              <a:gd name="connsiteY3" fmla="*/ 0 h 76200"/>
              <a:gd name="connsiteX4" fmla="*/ 76200 w 76200"/>
              <a:gd name="connsiteY4" fmla="*/ 381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0579F70B-886C-4BF9-A3FA-A6BBDEFE4850}"/>
              </a:ext>
            </a:extLst>
          </p:cNvPr>
          <p:cNvSpPr/>
          <p:nvPr/>
        </p:nvSpPr>
        <p:spPr>
          <a:xfrm>
            <a:off x="1896948" y="1222070"/>
            <a:ext cx="1749223" cy="334927"/>
          </a:xfrm>
          <a:custGeom>
            <a:avLst/>
            <a:gdLst>
              <a:gd name="connsiteX0" fmla="*/ 1712976 w 1894331"/>
              <a:gd name="connsiteY0" fmla="*/ 362712 h 362712"/>
              <a:gd name="connsiteX1" fmla="*/ 181356 w 1894331"/>
              <a:gd name="connsiteY1" fmla="*/ 362712 h 362712"/>
              <a:gd name="connsiteX2" fmla="*/ 0 w 1894331"/>
              <a:gd name="connsiteY2" fmla="*/ 181356 h 362712"/>
              <a:gd name="connsiteX3" fmla="*/ 0 w 1894331"/>
              <a:gd name="connsiteY3" fmla="*/ 181356 h 362712"/>
              <a:gd name="connsiteX4" fmla="*/ 181356 w 1894331"/>
              <a:gd name="connsiteY4" fmla="*/ 0 h 362712"/>
              <a:gd name="connsiteX5" fmla="*/ 1712976 w 1894331"/>
              <a:gd name="connsiteY5" fmla="*/ 0 h 362712"/>
              <a:gd name="connsiteX6" fmla="*/ 1894332 w 1894331"/>
              <a:gd name="connsiteY6" fmla="*/ 181356 h 362712"/>
              <a:gd name="connsiteX7" fmla="*/ 1894332 w 1894331"/>
              <a:gd name="connsiteY7" fmla="*/ 181356 h 362712"/>
              <a:gd name="connsiteX8" fmla="*/ 1712976 w 1894331"/>
              <a:gd name="connsiteY8" fmla="*/ 362712 h 3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4331" h="362712">
                <a:moveTo>
                  <a:pt x="1712976" y="362712"/>
                </a:moveTo>
                <a:lnTo>
                  <a:pt x="181356" y="362712"/>
                </a:lnTo>
                <a:cubicBezTo>
                  <a:pt x="81534" y="362712"/>
                  <a:pt x="0" y="281178"/>
                  <a:pt x="0" y="181356"/>
                </a:cubicBezTo>
                <a:lnTo>
                  <a:pt x="0" y="181356"/>
                </a:lnTo>
                <a:cubicBezTo>
                  <a:pt x="0" y="81534"/>
                  <a:pt x="81534" y="0"/>
                  <a:pt x="181356" y="0"/>
                </a:cubicBezTo>
                <a:lnTo>
                  <a:pt x="1712976" y="0"/>
                </a:lnTo>
                <a:cubicBezTo>
                  <a:pt x="1812798" y="0"/>
                  <a:pt x="1894332" y="81534"/>
                  <a:pt x="1894332" y="181356"/>
                </a:cubicBezTo>
                <a:lnTo>
                  <a:pt x="1894332" y="181356"/>
                </a:lnTo>
                <a:cubicBezTo>
                  <a:pt x="1894332" y="281940"/>
                  <a:pt x="1813560" y="362712"/>
                  <a:pt x="1712976" y="362712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106" dirty="0">
                <a:solidFill>
                  <a:srgbClr val="FE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当前痛点</a:t>
            </a: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A9FB32B5-4DD6-4CDB-A9DF-E7408AC44D4E}"/>
              </a:ext>
            </a:extLst>
          </p:cNvPr>
          <p:cNvSpPr/>
          <p:nvPr/>
        </p:nvSpPr>
        <p:spPr>
          <a:xfrm>
            <a:off x="1814058" y="4984176"/>
            <a:ext cx="1159731" cy="334927"/>
          </a:xfrm>
          <a:custGeom>
            <a:avLst/>
            <a:gdLst>
              <a:gd name="connsiteX0" fmla="*/ 1712976 w 1894332"/>
              <a:gd name="connsiteY0" fmla="*/ 362712 h 362712"/>
              <a:gd name="connsiteX1" fmla="*/ 181356 w 1894332"/>
              <a:gd name="connsiteY1" fmla="*/ 362712 h 362712"/>
              <a:gd name="connsiteX2" fmla="*/ 0 w 1894332"/>
              <a:gd name="connsiteY2" fmla="*/ 181356 h 362712"/>
              <a:gd name="connsiteX3" fmla="*/ 0 w 1894332"/>
              <a:gd name="connsiteY3" fmla="*/ 181356 h 362712"/>
              <a:gd name="connsiteX4" fmla="*/ 181356 w 1894332"/>
              <a:gd name="connsiteY4" fmla="*/ 0 h 362712"/>
              <a:gd name="connsiteX5" fmla="*/ 1712976 w 1894332"/>
              <a:gd name="connsiteY5" fmla="*/ 0 h 362712"/>
              <a:gd name="connsiteX6" fmla="*/ 1894333 w 1894332"/>
              <a:gd name="connsiteY6" fmla="*/ 181356 h 362712"/>
              <a:gd name="connsiteX7" fmla="*/ 1894333 w 1894332"/>
              <a:gd name="connsiteY7" fmla="*/ 181356 h 362712"/>
              <a:gd name="connsiteX8" fmla="*/ 1712976 w 1894332"/>
              <a:gd name="connsiteY8" fmla="*/ 362712 h 3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4332" h="362712">
                <a:moveTo>
                  <a:pt x="1712976" y="362712"/>
                </a:moveTo>
                <a:lnTo>
                  <a:pt x="181356" y="362712"/>
                </a:lnTo>
                <a:cubicBezTo>
                  <a:pt x="81535" y="362712"/>
                  <a:pt x="0" y="281178"/>
                  <a:pt x="0" y="181356"/>
                </a:cubicBezTo>
                <a:lnTo>
                  <a:pt x="0" y="181356"/>
                </a:lnTo>
                <a:cubicBezTo>
                  <a:pt x="0" y="81534"/>
                  <a:pt x="81535" y="0"/>
                  <a:pt x="181356" y="0"/>
                </a:cubicBezTo>
                <a:lnTo>
                  <a:pt x="1712976" y="0"/>
                </a:lnTo>
                <a:cubicBezTo>
                  <a:pt x="1812798" y="0"/>
                  <a:pt x="1894333" y="81534"/>
                  <a:pt x="1894333" y="181356"/>
                </a:cubicBezTo>
                <a:lnTo>
                  <a:pt x="1894333" y="181356"/>
                </a:lnTo>
                <a:cubicBezTo>
                  <a:pt x="1894333" y="281178"/>
                  <a:pt x="1812798" y="362712"/>
                  <a:pt x="1712976" y="362712"/>
                </a:cubicBezTo>
                <a:close/>
              </a:path>
            </a:pathLst>
          </a:custGeom>
          <a:solidFill>
            <a:schemeClr val="accent4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106" dirty="0">
                <a:solidFill>
                  <a:srgbClr val="FE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最终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9DCF6D0A-1343-4793-93FA-D7A529994C2C}"/>
              </a:ext>
            </a:extLst>
          </p:cNvPr>
          <p:cNvSpPr/>
          <p:nvPr/>
        </p:nvSpPr>
        <p:spPr>
          <a:xfrm>
            <a:off x="6157076" y="1887762"/>
            <a:ext cx="70363" cy="70363"/>
          </a:xfrm>
          <a:custGeom>
            <a:avLst/>
            <a:gdLst>
              <a:gd name="connsiteX0" fmla="*/ 76200 w 76200"/>
              <a:gd name="connsiteY0" fmla="*/ 38100 h 76200"/>
              <a:gd name="connsiteX1" fmla="*/ 38100 w 76200"/>
              <a:gd name="connsiteY1" fmla="*/ 76200 h 76200"/>
              <a:gd name="connsiteX2" fmla="*/ 0 w 76200"/>
              <a:gd name="connsiteY2" fmla="*/ 38100 h 76200"/>
              <a:gd name="connsiteX3" fmla="*/ 38100 w 76200"/>
              <a:gd name="connsiteY3" fmla="*/ 0 h 76200"/>
              <a:gd name="connsiteX4" fmla="*/ 76200 w 76200"/>
              <a:gd name="connsiteY4" fmla="*/ 381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>
            <a:schemeClr val="accent3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DF1160E0-1415-4E76-A920-658E89EF387C}"/>
              </a:ext>
            </a:extLst>
          </p:cNvPr>
          <p:cNvSpPr/>
          <p:nvPr/>
        </p:nvSpPr>
        <p:spPr>
          <a:xfrm>
            <a:off x="6192257" y="1253087"/>
            <a:ext cx="1749223" cy="334927"/>
          </a:xfrm>
          <a:custGeom>
            <a:avLst/>
            <a:gdLst>
              <a:gd name="connsiteX0" fmla="*/ 1712976 w 1894331"/>
              <a:gd name="connsiteY0" fmla="*/ 362712 h 362712"/>
              <a:gd name="connsiteX1" fmla="*/ 181356 w 1894331"/>
              <a:gd name="connsiteY1" fmla="*/ 362712 h 362712"/>
              <a:gd name="connsiteX2" fmla="*/ 0 w 1894331"/>
              <a:gd name="connsiteY2" fmla="*/ 181356 h 362712"/>
              <a:gd name="connsiteX3" fmla="*/ 0 w 1894331"/>
              <a:gd name="connsiteY3" fmla="*/ 181356 h 362712"/>
              <a:gd name="connsiteX4" fmla="*/ 181356 w 1894331"/>
              <a:gd name="connsiteY4" fmla="*/ 0 h 362712"/>
              <a:gd name="connsiteX5" fmla="*/ 1712976 w 1894331"/>
              <a:gd name="connsiteY5" fmla="*/ 0 h 362712"/>
              <a:gd name="connsiteX6" fmla="*/ 1894332 w 1894331"/>
              <a:gd name="connsiteY6" fmla="*/ 181356 h 362712"/>
              <a:gd name="connsiteX7" fmla="*/ 1894332 w 1894331"/>
              <a:gd name="connsiteY7" fmla="*/ 181356 h 362712"/>
              <a:gd name="connsiteX8" fmla="*/ 1712976 w 1894331"/>
              <a:gd name="connsiteY8" fmla="*/ 362712 h 3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4331" h="362712">
                <a:moveTo>
                  <a:pt x="1712976" y="362712"/>
                </a:moveTo>
                <a:lnTo>
                  <a:pt x="181356" y="362712"/>
                </a:lnTo>
                <a:cubicBezTo>
                  <a:pt x="81534" y="362712"/>
                  <a:pt x="0" y="281178"/>
                  <a:pt x="0" y="181356"/>
                </a:cubicBezTo>
                <a:lnTo>
                  <a:pt x="0" y="181356"/>
                </a:lnTo>
                <a:cubicBezTo>
                  <a:pt x="0" y="81534"/>
                  <a:pt x="81534" y="0"/>
                  <a:pt x="181356" y="0"/>
                </a:cubicBezTo>
                <a:lnTo>
                  <a:pt x="1712976" y="0"/>
                </a:lnTo>
                <a:cubicBezTo>
                  <a:pt x="1812798" y="0"/>
                  <a:pt x="1894332" y="81534"/>
                  <a:pt x="1894332" y="181356"/>
                </a:cubicBezTo>
                <a:lnTo>
                  <a:pt x="1894332" y="181356"/>
                </a:lnTo>
                <a:cubicBezTo>
                  <a:pt x="1894332" y="281940"/>
                  <a:pt x="1812798" y="362712"/>
                  <a:pt x="1712976" y="362712"/>
                </a:cubicBezTo>
                <a:close/>
              </a:path>
            </a:pathLst>
          </a:custGeom>
          <a:solidFill>
            <a:schemeClr val="accent3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106" dirty="0">
                <a:solidFill>
                  <a:srgbClr val="FE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解决方案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FA9AB9C-0CCF-B763-8FC2-2532C112A967}"/>
              </a:ext>
            </a:extLst>
          </p:cNvPr>
          <p:cNvSpPr txBox="1"/>
          <p:nvPr/>
        </p:nvSpPr>
        <p:spPr>
          <a:xfrm>
            <a:off x="1825323" y="1758460"/>
            <a:ext cx="3786469" cy="49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复盘报告单次3-4小时，周报、大促日报等每周重复；取数制表全靠自己，重复劳动消耗着全组。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A8055BE-2795-9666-4A50-42C8D935FC20}"/>
              </a:ext>
            </a:extLst>
          </p:cNvPr>
          <p:cNvSpPr txBox="1"/>
          <p:nvPr/>
        </p:nvSpPr>
        <p:spPr>
          <a:xfrm>
            <a:off x="6275681" y="1757177"/>
            <a:ext cx="3786469" cy="1032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400"/>
              </a:spcAft>
            </a:pPr>
            <a:r>
              <a:rPr lang="zh-CN" altLang="en-US" sz="1050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我把6个高频分析场景全部做成自动化Skill：周期类3个（勤奋度圈选周报、818日报、WBR周报）+ 专项类3个（当日实时达成预测、大促达成率、DAC分析）。</a:t>
            </a:r>
          </a:p>
          <a:p>
            <a:r>
              <a:rPr lang="zh-CN" altLang="en-US" sz="105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输入数据周期，取数 → 算贡献度 → 可视化自动跑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846488A-4F53-7846-F119-C5443AF9D251}"/>
              </a:ext>
            </a:extLst>
          </p:cNvPr>
          <p:cNvSpPr txBox="1"/>
          <p:nvPr/>
        </p:nvSpPr>
        <p:spPr>
          <a:xfrm>
            <a:off x="3485883" y="4864807"/>
            <a:ext cx="7297751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400"/>
              </a:spcAft>
            </a:pPr>
            <a:r>
              <a:rPr lang="en-US" altLang="zh-CN" sz="1200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效果：人工复盘一份3-4小时 → 自动化初稿25分钟以内，释放重复取数的时间</a:t>
            </a:r>
            <a:endParaRPr lang="en-US" altLang="zh-CN" sz="922" b="1" dirty="0">
              <a:solidFill>
                <a:srgbClr val="24292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>
              <a:spcAft>
                <a:spcPts val="400"/>
              </a:spcAft>
            </a:pPr>
            <a:r>
              <a:rPr lang="en-US" altLang="zh-CN" sz="115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我的坚持：自动化只输出初稿</a:t>
            </a:r>
            <a:r>
              <a:rPr lang="zh-CN" altLang="en-US" sz="115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，</a:t>
            </a:r>
            <a:r>
              <a:rPr lang="en-US" altLang="zh-CN" sz="115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AI有数据幻觉，关键指标必须人工校验后才交付</a:t>
            </a:r>
            <a:endParaRPr lang="en-US" altLang="zh-CN" sz="115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r>
              <a:rPr lang="en-US" altLang="zh-CN" sz="115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现状：这套能力已交付</a:t>
            </a:r>
            <a:r>
              <a:rPr lang="zh-CN" altLang="en-US" sz="115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组内</a:t>
            </a:r>
            <a:r>
              <a:rPr lang="en-US" altLang="zh-CN" sz="115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，</a:t>
            </a:r>
            <a:r>
              <a:rPr lang="zh-CN" altLang="en-US" sz="115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目前</a:t>
            </a:r>
            <a:r>
              <a:rPr lang="en-US" altLang="zh-CN" sz="115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正常使用中</a:t>
            </a:r>
            <a:endParaRPr lang="en-US" altLang="zh-CN" sz="115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963218D3-2EFF-CA63-1389-776E7E435C77}"/>
              </a:ext>
            </a:extLst>
          </p:cNvPr>
          <p:cNvSpPr/>
          <p:nvPr/>
        </p:nvSpPr>
        <p:spPr>
          <a:xfrm>
            <a:off x="3307743" y="4785423"/>
            <a:ext cx="7808180" cy="1127257"/>
          </a:xfrm>
          <a:prstGeom prst="roundRect">
            <a:avLst>
              <a:gd name="adj" fmla="val 9672"/>
            </a:avLst>
          </a:prstGeom>
          <a:noFill/>
          <a:ln w="158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solidFill>
                <a:srgbClr val="FE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B6ABAC4B-F3AA-5755-3564-B826794C4786}"/>
              </a:ext>
            </a:extLst>
          </p:cNvPr>
          <p:cNvSpPr/>
          <p:nvPr/>
        </p:nvSpPr>
        <p:spPr>
          <a:xfrm rot="5400000">
            <a:off x="5473880" y="-1834906"/>
            <a:ext cx="1127256" cy="11118280"/>
          </a:xfrm>
          <a:custGeom>
            <a:avLst/>
            <a:gdLst>
              <a:gd name="connsiteX0" fmla="*/ 0 w 1223247"/>
              <a:gd name="connsiteY0" fmla="*/ 600797 h 12065051"/>
              <a:gd name="connsiteX1" fmla="*/ 611624 w 1223247"/>
              <a:gd name="connsiteY1" fmla="*/ 0 h 12065051"/>
              <a:gd name="connsiteX2" fmla="*/ 1223247 w 1223247"/>
              <a:gd name="connsiteY2" fmla="*/ 600797 h 12065051"/>
              <a:gd name="connsiteX3" fmla="*/ 936896 w 1223247"/>
              <a:gd name="connsiteY3" fmla="*/ 600797 h 12065051"/>
              <a:gd name="connsiteX4" fmla="*/ 936896 w 1223247"/>
              <a:gd name="connsiteY4" fmla="*/ 12065051 h 12065051"/>
              <a:gd name="connsiteX5" fmla="*/ 287117 w 1223247"/>
              <a:gd name="connsiteY5" fmla="*/ 12065051 h 12065051"/>
              <a:gd name="connsiteX6" fmla="*/ 287117 w 1223247"/>
              <a:gd name="connsiteY6" fmla="*/ 600797 h 12065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3247" h="12065051">
                <a:moveTo>
                  <a:pt x="0" y="600797"/>
                </a:moveTo>
                <a:lnTo>
                  <a:pt x="611624" y="0"/>
                </a:lnTo>
                <a:lnTo>
                  <a:pt x="1223247" y="600797"/>
                </a:lnTo>
                <a:lnTo>
                  <a:pt x="936896" y="600797"/>
                </a:lnTo>
                <a:lnTo>
                  <a:pt x="936896" y="12065051"/>
                </a:lnTo>
                <a:lnTo>
                  <a:pt x="287117" y="12065051"/>
                </a:lnTo>
                <a:lnTo>
                  <a:pt x="287117" y="600797"/>
                </a:lnTo>
                <a:close/>
              </a:path>
            </a:pathLst>
          </a:custGeom>
          <a:gradFill>
            <a:gsLst>
              <a:gs pos="1000">
                <a:schemeClr val="accent1">
                  <a:alpha val="29839"/>
                </a:schemeClr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59">
              <a:solidFill>
                <a:srgbClr val="FE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FDC44001-76D4-4C50-A8EE-98F65BD6DAFF}"/>
              </a:ext>
            </a:extLst>
          </p:cNvPr>
          <p:cNvSpPr/>
          <p:nvPr/>
        </p:nvSpPr>
        <p:spPr>
          <a:xfrm>
            <a:off x="1796680" y="3060008"/>
            <a:ext cx="1737262" cy="1328452"/>
          </a:xfrm>
          <a:custGeom>
            <a:avLst/>
            <a:gdLst>
              <a:gd name="connsiteX0" fmla="*/ 1881378 w 1881378"/>
              <a:gd name="connsiteY0" fmla="*/ 275844 h 1438655"/>
              <a:gd name="connsiteX1" fmla="*/ 1881378 w 1881378"/>
              <a:gd name="connsiteY1" fmla="*/ 1162812 h 1438655"/>
              <a:gd name="connsiteX2" fmla="*/ 1605534 w 1881378"/>
              <a:gd name="connsiteY2" fmla="*/ 1438656 h 1438655"/>
              <a:gd name="connsiteX3" fmla="*/ 0 w 1881378"/>
              <a:gd name="connsiteY3" fmla="*/ 1438656 h 1438655"/>
              <a:gd name="connsiteX4" fmla="*/ 275844 w 1881378"/>
              <a:gd name="connsiteY4" fmla="*/ 1162812 h 1438655"/>
              <a:gd name="connsiteX5" fmla="*/ 275844 w 1881378"/>
              <a:gd name="connsiteY5" fmla="*/ 275844 h 1438655"/>
              <a:gd name="connsiteX6" fmla="*/ 0 w 1881378"/>
              <a:gd name="connsiteY6" fmla="*/ 0 h 1438655"/>
              <a:gd name="connsiteX7" fmla="*/ 1605534 w 1881378"/>
              <a:gd name="connsiteY7" fmla="*/ 0 h 1438655"/>
              <a:gd name="connsiteX8" fmla="*/ 1881378 w 1881378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8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934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845E894F-07F4-478A-AECA-1B2399C8DD98}"/>
              </a:ext>
            </a:extLst>
          </p:cNvPr>
          <p:cNvSpPr/>
          <p:nvPr/>
        </p:nvSpPr>
        <p:spPr>
          <a:xfrm>
            <a:off x="4001857" y="3060008"/>
            <a:ext cx="1737261" cy="1328452"/>
          </a:xfrm>
          <a:custGeom>
            <a:avLst/>
            <a:gdLst>
              <a:gd name="connsiteX0" fmla="*/ 1881378 w 1881377"/>
              <a:gd name="connsiteY0" fmla="*/ 275844 h 1438655"/>
              <a:gd name="connsiteX1" fmla="*/ 1881378 w 1881377"/>
              <a:gd name="connsiteY1" fmla="*/ 1162812 h 1438655"/>
              <a:gd name="connsiteX2" fmla="*/ 1605534 w 1881377"/>
              <a:gd name="connsiteY2" fmla="*/ 1438656 h 1438655"/>
              <a:gd name="connsiteX3" fmla="*/ 0 w 1881377"/>
              <a:gd name="connsiteY3" fmla="*/ 1438656 h 1438655"/>
              <a:gd name="connsiteX4" fmla="*/ 275844 w 1881377"/>
              <a:gd name="connsiteY4" fmla="*/ 1162812 h 1438655"/>
              <a:gd name="connsiteX5" fmla="*/ 275844 w 1881377"/>
              <a:gd name="connsiteY5" fmla="*/ 275844 h 1438655"/>
              <a:gd name="connsiteX6" fmla="*/ 0 w 1881377"/>
              <a:gd name="connsiteY6" fmla="*/ 0 h 1438655"/>
              <a:gd name="connsiteX7" fmla="*/ 1605534 w 1881377"/>
              <a:gd name="connsiteY7" fmla="*/ 0 h 1438655"/>
              <a:gd name="connsiteX8" fmla="*/ 1881378 w 1881377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7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172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FBB877-75C0-4B41-9D1D-E42D81539E2B}"/>
              </a:ext>
            </a:extLst>
          </p:cNvPr>
          <p:cNvSpPr/>
          <p:nvPr/>
        </p:nvSpPr>
        <p:spPr>
          <a:xfrm>
            <a:off x="6204219" y="3060008"/>
            <a:ext cx="1737261" cy="1328452"/>
          </a:xfrm>
          <a:custGeom>
            <a:avLst/>
            <a:gdLst>
              <a:gd name="connsiteX0" fmla="*/ 1881378 w 1881377"/>
              <a:gd name="connsiteY0" fmla="*/ 275844 h 1438655"/>
              <a:gd name="connsiteX1" fmla="*/ 1881378 w 1881377"/>
              <a:gd name="connsiteY1" fmla="*/ 1162812 h 1438655"/>
              <a:gd name="connsiteX2" fmla="*/ 1605534 w 1881377"/>
              <a:gd name="connsiteY2" fmla="*/ 1438656 h 1438655"/>
              <a:gd name="connsiteX3" fmla="*/ 0 w 1881377"/>
              <a:gd name="connsiteY3" fmla="*/ 1438656 h 1438655"/>
              <a:gd name="connsiteX4" fmla="*/ 275844 w 1881377"/>
              <a:gd name="connsiteY4" fmla="*/ 1162812 h 1438655"/>
              <a:gd name="connsiteX5" fmla="*/ 275844 w 1881377"/>
              <a:gd name="connsiteY5" fmla="*/ 275844 h 1438655"/>
              <a:gd name="connsiteX6" fmla="*/ 0 w 1881377"/>
              <a:gd name="connsiteY6" fmla="*/ 0 h 1438655"/>
              <a:gd name="connsiteX7" fmla="*/ 1605534 w 1881377"/>
              <a:gd name="connsiteY7" fmla="*/ 0 h 1438655"/>
              <a:gd name="connsiteX8" fmla="*/ 1881378 w 1881377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7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934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3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FE5AF8EC-B487-4B47-9FFD-27548AD06601}"/>
              </a:ext>
            </a:extLst>
          </p:cNvPr>
          <p:cNvSpPr/>
          <p:nvPr/>
        </p:nvSpPr>
        <p:spPr>
          <a:xfrm>
            <a:off x="8422059" y="3060008"/>
            <a:ext cx="1737262" cy="1328452"/>
          </a:xfrm>
          <a:custGeom>
            <a:avLst/>
            <a:gdLst>
              <a:gd name="connsiteX0" fmla="*/ 1881378 w 1881378"/>
              <a:gd name="connsiteY0" fmla="*/ 275844 h 1438655"/>
              <a:gd name="connsiteX1" fmla="*/ 1881378 w 1881378"/>
              <a:gd name="connsiteY1" fmla="*/ 1162812 h 1438655"/>
              <a:gd name="connsiteX2" fmla="*/ 1605534 w 1881378"/>
              <a:gd name="connsiteY2" fmla="*/ 1438656 h 1438655"/>
              <a:gd name="connsiteX3" fmla="*/ 0 w 1881378"/>
              <a:gd name="connsiteY3" fmla="*/ 1438656 h 1438655"/>
              <a:gd name="connsiteX4" fmla="*/ 275844 w 1881378"/>
              <a:gd name="connsiteY4" fmla="*/ 1162812 h 1438655"/>
              <a:gd name="connsiteX5" fmla="*/ 275844 w 1881378"/>
              <a:gd name="connsiteY5" fmla="*/ 275844 h 1438655"/>
              <a:gd name="connsiteX6" fmla="*/ 0 w 1881378"/>
              <a:gd name="connsiteY6" fmla="*/ 0 h 1438655"/>
              <a:gd name="connsiteX7" fmla="*/ 1605534 w 1881378"/>
              <a:gd name="connsiteY7" fmla="*/ 0 h 1438655"/>
              <a:gd name="connsiteX8" fmla="*/ 1881378 w 1881378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8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934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4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" name="Freeform 132">
            <a:extLst>
              <a:ext uri="{FF2B5EF4-FFF2-40B4-BE49-F238E27FC236}">
                <a16:creationId xmlns:a16="http://schemas.microsoft.com/office/drawing/2014/main" id="{D9553D98-A152-B277-CC05-DE4205E18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854" y="3308989"/>
            <a:ext cx="265413" cy="295523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543A76A2-2C64-1533-F403-5E0EF9978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816" y="3308988"/>
            <a:ext cx="265414" cy="295525"/>
          </a:xfrm>
          <a:custGeom>
            <a:avLst/>
            <a:gdLst>
              <a:gd name="T0" fmla="*/ 933 w 1051"/>
              <a:gd name="T1" fmla="*/ 1050 h 1169"/>
              <a:gd name="T2" fmla="*/ 933 w 1051"/>
              <a:gd name="T3" fmla="*/ 411 h 1169"/>
              <a:gd name="T4" fmla="*/ 118 w 1051"/>
              <a:gd name="T5" fmla="*/ 411 h 1169"/>
              <a:gd name="T6" fmla="*/ 118 w 1051"/>
              <a:gd name="T7" fmla="*/ 1050 h 1169"/>
              <a:gd name="T8" fmla="*/ 933 w 1051"/>
              <a:gd name="T9" fmla="*/ 1050 h 1169"/>
              <a:gd name="T10" fmla="*/ 933 w 1051"/>
              <a:gd name="T11" fmla="*/ 118 h 1169"/>
              <a:gd name="T12" fmla="*/ 1050 w 1051"/>
              <a:gd name="T13" fmla="*/ 236 h 1169"/>
              <a:gd name="T14" fmla="*/ 1050 w 1051"/>
              <a:gd name="T15" fmla="*/ 1050 h 1169"/>
              <a:gd name="T16" fmla="*/ 933 w 1051"/>
              <a:gd name="T17" fmla="*/ 1168 h 1169"/>
              <a:gd name="T18" fmla="*/ 118 w 1051"/>
              <a:gd name="T19" fmla="*/ 1168 h 1169"/>
              <a:gd name="T20" fmla="*/ 0 w 1051"/>
              <a:gd name="T21" fmla="*/ 1050 h 1169"/>
              <a:gd name="T22" fmla="*/ 0 w 1051"/>
              <a:gd name="T23" fmla="*/ 236 h 1169"/>
              <a:gd name="T24" fmla="*/ 118 w 1051"/>
              <a:gd name="T25" fmla="*/ 118 h 1169"/>
              <a:gd name="T26" fmla="*/ 175 w 1051"/>
              <a:gd name="T27" fmla="*/ 118 h 1169"/>
              <a:gd name="T28" fmla="*/ 175 w 1051"/>
              <a:gd name="T29" fmla="*/ 0 h 1169"/>
              <a:gd name="T30" fmla="*/ 293 w 1051"/>
              <a:gd name="T31" fmla="*/ 0 h 1169"/>
              <a:gd name="T32" fmla="*/ 293 w 1051"/>
              <a:gd name="T33" fmla="*/ 118 h 1169"/>
              <a:gd name="T34" fmla="*/ 758 w 1051"/>
              <a:gd name="T35" fmla="*/ 118 h 1169"/>
              <a:gd name="T36" fmla="*/ 758 w 1051"/>
              <a:gd name="T37" fmla="*/ 0 h 1169"/>
              <a:gd name="T38" fmla="*/ 875 w 1051"/>
              <a:gd name="T39" fmla="*/ 0 h 1169"/>
              <a:gd name="T40" fmla="*/ 875 w 1051"/>
              <a:gd name="T41" fmla="*/ 118 h 1169"/>
              <a:gd name="T42" fmla="*/ 933 w 1051"/>
              <a:gd name="T43" fmla="*/ 118 h 1169"/>
              <a:gd name="T44" fmla="*/ 790 w 1051"/>
              <a:gd name="T45" fmla="*/ 588 h 1169"/>
              <a:gd name="T46" fmla="*/ 443 w 1051"/>
              <a:gd name="T47" fmla="*/ 935 h 1169"/>
              <a:gd name="T48" fmla="*/ 257 w 1051"/>
              <a:gd name="T49" fmla="*/ 750 h 1169"/>
              <a:gd name="T50" fmla="*/ 320 w 1051"/>
              <a:gd name="T51" fmla="*/ 687 h 1169"/>
              <a:gd name="T52" fmla="*/ 443 w 1051"/>
              <a:gd name="T53" fmla="*/ 810 h 1169"/>
              <a:gd name="T54" fmla="*/ 728 w 1051"/>
              <a:gd name="T55" fmla="*/ 525 h 1169"/>
              <a:gd name="T56" fmla="*/ 790 w 1051"/>
              <a:gd name="T57" fmla="*/ 588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51" h="1169">
                <a:moveTo>
                  <a:pt x="933" y="1050"/>
                </a:moveTo>
                <a:lnTo>
                  <a:pt x="933" y="411"/>
                </a:lnTo>
                <a:lnTo>
                  <a:pt x="118" y="411"/>
                </a:lnTo>
                <a:lnTo>
                  <a:pt x="118" y="1050"/>
                </a:lnTo>
                <a:lnTo>
                  <a:pt x="933" y="1050"/>
                </a:lnTo>
                <a:close/>
                <a:moveTo>
                  <a:pt x="933" y="118"/>
                </a:moveTo>
                <a:cubicBezTo>
                  <a:pt x="996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6" y="1168"/>
                  <a:pt x="933" y="1168"/>
                </a:cubicBezTo>
                <a:lnTo>
                  <a:pt x="118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8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8" y="118"/>
                </a:lnTo>
                <a:lnTo>
                  <a:pt x="758" y="0"/>
                </a:lnTo>
                <a:lnTo>
                  <a:pt x="875" y="0"/>
                </a:lnTo>
                <a:lnTo>
                  <a:pt x="875" y="118"/>
                </a:lnTo>
                <a:lnTo>
                  <a:pt x="933" y="118"/>
                </a:lnTo>
                <a:close/>
                <a:moveTo>
                  <a:pt x="790" y="588"/>
                </a:moveTo>
                <a:lnTo>
                  <a:pt x="443" y="935"/>
                </a:lnTo>
                <a:lnTo>
                  <a:pt x="257" y="750"/>
                </a:lnTo>
                <a:lnTo>
                  <a:pt x="320" y="687"/>
                </a:lnTo>
                <a:lnTo>
                  <a:pt x="443" y="810"/>
                </a:lnTo>
                <a:lnTo>
                  <a:pt x="728" y="525"/>
                </a:lnTo>
                <a:lnTo>
                  <a:pt x="790" y="5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" name="Freeform 125">
            <a:extLst>
              <a:ext uri="{FF2B5EF4-FFF2-40B4-BE49-F238E27FC236}">
                <a16:creationId xmlns:a16="http://schemas.microsoft.com/office/drawing/2014/main" id="{E7AAD5C0-F1ED-56DC-2B84-4858E1C55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781" y="3360846"/>
            <a:ext cx="353513" cy="191811"/>
          </a:xfrm>
          <a:custGeom>
            <a:avLst/>
            <a:gdLst>
              <a:gd name="T0" fmla="*/ 757 w 1400"/>
              <a:gd name="T1" fmla="*/ 464 h 758"/>
              <a:gd name="T2" fmla="*/ 1107 w 1400"/>
              <a:gd name="T3" fmla="*/ 639 h 758"/>
              <a:gd name="T4" fmla="*/ 1107 w 1400"/>
              <a:gd name="T5" fmla="*/ 757 h 758"/>
              <a:gd name="T6" fmla="*/ 407 w 1400"/>
              <a:gd name="T7" fmla="*/ 757 h 758"/>
              <a:gd name="T8" fmla="*/ 407 w 1400"/>
              <a:gd name="T9" fmla="*/ 639 h 758"/>
              <a:gd name="T10" fmla="*/ 757 w 1400"/>
              <a:gd name="T11" fmla="*/ 464 h 758"/>
              <a:gd name="T12" fmla="*/ 1145 w 1400"/>
              <a:gd name="T13" fmla="*/ 475 h 758"/>
              <a:gd name="T14" fmla="*/ 1399 w 1400"/>
              <a:gd name="T15" fmla="*/ 639 h 758"/>
              <a:gd name="T16" fmla="*/ 1399 w 1400"/>
              <a:gd name="T17" fmla="*/ 757 h 758"/>
              <a:gd name="T18" fmla="*/ 1224 w 1400"/>
              <a:gd name="T19" fmla="*/ 757 h 758"/>
              <a:gd name="T20" fmla="*/ 1224 w 1400"/>
              <a:gd name="T21" fmla="*/ 639 h 758"/>
              <a:gd name="T22" fmla="*/ 1145 w 1400"/>
              <a:gd name="T23" fmla="*/ 475 h 758"/>
              <a:gd name="T24" fmla="*/ 757 w 1400"/>
              <a:gd name="T25" fmla="*/ 349 h 758"/>
              <a:gd name="T26" fmla="*/ 582 w 1400"/>
              <a:gd name="T27" fmla="*/ 175 h 758"/>
              <a:gd name="T28" fmla="*/ 757 w 1400"/>
              <a:gd name="T29" fmla="*/ 0 h 758"/>
              <a:gd name="T30" fmla="*/ 932 w 1400"/>
              <a:gd name="T31" fmla="*/ 175 h 758"/>
              <a:gd name="T32" fmla="*/ 757 w 1400"/>
              <a:gd name="T33" fmla="*/ 349 h 758"/>
              <a:gd name="T34" fmla="*/ 1049 w 1400"/>
              <a:gd name="T35" fmla="*/ 349 h 758"/>
              <a:gd name="T36" fmla="*/ 997 w 1400"/>
              <a:gd name="T37" fmla="*/ 341 h 758"/>
              <a:gd name="T38" fmla="*/ 1049 w 1400"/>
              <a:gd name="T39" fmla="*/ 175 h 758"/>
              <a:gd name="T40" fmla="*/ 997 w 1400"/>
              <a:gd name="T41" fmla="*/ 8 h 758"/>
              <a:gd name="T42" fmla="*/ 1049 w 1400"/>
              <a:gd name="T43" fmla="*/ 0 h 758"/>
              <a:gd name="T44" fmla="*/ 1224 w 1400"/>
              <a:gd name="T45" fmla="*/ 175 h 758"/>
              <a:gd name="T46" fmla="*/ 1049 w 1400"/>
              <a:gd name="T47" fmla="*/ 349 h 758"/>
              <a:gd name="T48" fmla="*/ 467 w 1400"/>
              <a:gd name="T49" fmla="*/ 289 h 758"/>
              <a:gd name="T50" fmla="*/ 467 w 1400"/>
              <a:gd name="T51" fmla="*/ 407 h 758"/>
              <a:gd name="T52" fmla="*/ 292 w 1400"/>
              <a:gd name="T53" fmla="*/ 407 h 758"/>
              <a:gd name="T54" fmla="*/ 292 w 1400"/>
              <a:gd name="T55" fmla="*/ 582 h 758"/>
              <a:gd name="T56" fmla="*/ 175 w 1400"/>
              <a:gd name="T57" fmla="*/ 582 h 758"/>
              <a:gd name="T58" fmla="*/ 175 w 1400"/>
              <a:gd name="T59" fmla="*/ 407 h 758"/>
              <a:gd name="T60" fmla="*/ 0 w 1400"/>
              <a:gd name="T61" fmla="*/ 407 h 758"/>
              <a:gd name="T62" fmla="*/ 0 w 1400"/>
              <a:gd name="T63" fmla="*/ 289 h 758"/>
              <a:gd name="T64" fmla="*/ 175 w 1400"/>
              <a:gd name="T65" fmla="*/ 289 h 758"/>
              <a:gd name="T66" fmla="*/ 175 w 1400"/>
              <a:gd name="T67" fmla="*/ 114 h 758"/>
              <a:gd name="T68" fmla="*/ 292 w 1400"/>
              <a:gd name="T69" fmla="*/ 114 h 758"/>
              <a:gd name="T70" fmla="*/ 292 w 1400"/>
              <a:gd name="T71" fmla="*/ 289 h 758"/>
              <a:gd name="T72" fmla="*/ 467 w 1400"/>
              <a:gd name="T73" fmla="*/ 289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00" h="758">
                <a:moveTo>
                  <a:pt x="757" y="464"/>
                </a:moveTo>
                <a:cubicBezTo>
                  <a:pt x="874" y="464"/>
                  <a:pt x="1107" y="522"/>
                  <a:pt x="1107" y="639"/>
                </a:cubicBezTo>
                <a:lnTo>
                  <a:pt x="1107" y="757"/>
                </a:lnTo>
                <a:lnTo>
                  <a:pt x="407" y="757"/>
                </a:lnTo>
                <a:lnTo>
                  <a:pt x="407" y="639"/>
                </a:lnTo>
                <a:cubicBezTo>
                  <a:pt x="407" y="522"/>
                  <a:pt x="639" y="464"/>
                  <a:pt x="757" y="464"/>
                </a:cubicBezTo>
                <a:close/>
                <a:moveTo>
                  <a:pt x="1145" y="475"/>
                </a:moveTo>
                <a:cubicBezTo>
                  <a:pt x="1262" y="494"/>
                  <a:pt x="1399" y="549"/>
                  <a:pt x="1399" y="639"/>
                </a:cubicBezTo>
                <a:lnTo>
                  <a:pt x="1399" y="757"/>
                </a:lnTo>
                <a:lnTo>
                  <a:pt x="1224" y="757"/>
                </a:lnTo>
                <a:lnTo>
                  <a:pt x="1224" y="639"/>
                </a:lnTo>
                <a:cubicBezTo>
                  <a:pt x="1224" y="571"/>
                  <a:pt x="1194" y="519"/>
                  <a:pt x="1145" y="475"/>
                </a:cubicBezTo>
                <a:close/>
                <a:moveTo>
                  <a:pt x="757" y="349"/>
                </a:moveTo>
                <a:cubicBezTo>
                  <a:pt x="661" y="349"/>
                  <a:pt x="582" y="270"/>
                  <a:pt x="582" y="175"/>
                </a:cubicBezTo>
                <a:cubicBezTo>
                  <a:pt x="582" y="79"/>
                  <a:pt x="661" y="0"/>
                  <a:pt x="757" y="0"/>
                </a:cubicBezTo>
                <a:cubicBezTo>
                  <a:pt x="852" y="0"/>
                  <a:pt x="932" y="79"/>
                  <a:pt x="932" y="175"/>
                </a:cubicBezTo>
                <a:cubicBezTo>
                  <a:pt x="932" y="270"/>
                  <a:pt x="852" y="349"/>
                  <a:pt x="757" y="349"/>
                </a:cubicBezTo>
                <a:close/>
                <a:moveTo>
                  <a:pt x="1049" y="349"/>
                </a:moveTo>
                <a:cubicBezTo>
                  <a:pt x="1030" y="349"/>
                  <a:pt x="1014" y="347"/>
                  <a:pt x="997" y="341"/>
                </a:cubicBezTo>
                <a:cubicBezTo>
                  <a:pt x="1030" y="295"/>
                  <a:pt x="1049" y="238"/>
                  <a:pt x="1049" y="175"/>
                </a:cubicBezTo>
                <a:cubicBezTo>
                  <a:pt x="1049" y="113"/>
                  <a:pt x="1030" y="54"/>
                  <a:pt x="997" y="8"/>
                </a:cubicBezTo>
                <a:cubicBezTo>
                  <a:pt x="1014" y="2"/>
                  <a:pt x="1030" y="0"/>
                  <a:pt x="1049" y="0"/>
                </a:cubicBezTo>
                <a:cubicBezTo>
                  <a:pt x="1145" y="0"/>
                  <a:pt x="1224" y="79"/>
                  <a:pt x="1224" y="175"/>
                </a:cubicBezTo>
                <a:cubicBezTo>
                  <a:pt x="1224" y="270"/>
                  <a:pt x="1145" y="349"/>
                  <a:pt x="1049" y="349"/>
                </a:cubicBezTo>
                <a:close/>
                <a:moveTo>
                  <a:pt x="467" y="289"/>
                </a:moveTo>
                <a:lnTo>
                  <a:pt x="467" y="407"/>
                </a:lnTo>
                <a:lnTo>
                  <a:pt x="292" y="407"/>
                </a:lnTo>
                <a:lnTo>
                  <a:pt x="292" y="582"/>
                </a:lnTo>
                <a:lnTo>
                  <a:pt x="175" y="582"/>
                </a:lnTo>
                <a:lnTo>
                  <a:pt x="175" y="407"/>
                </a:lnTo>
                <a:lnTo>
                  <a:pt x="0" y="407"/>
                </a:lnTo>
                <a:lnTo>
                  <a:pt x="0" y="289"/>
                </a:lnTo>
                <a:lnTo>
                  <a:pt x="175" y="289"/>
                </a:lnTo>
                <a:lnTo>
                  <a:pt x="175" y="114"/>
                </a:lnTo>
                <a:lnTo>
                  <a:pt x="292" y="114"/>
                </a:lnTo>
                <a:lnTo>
                  <a:pt x="292" y="289"/>
                </a:lnTo>
                <a:lnTo>
                  <a:pt x="467" y="2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8" name="Freeform 15">
            <a:extLst>
              <a:ext uri="{FF2B5EF4-FFF2-40B4-BE49-F238E27FC236}">
                <a16:creationId xmlns:a16="http://schemas.microsoft.com/office/drawing/2014/main" id="{552392C6-9E0E-0AC1-1E7C-CF1100100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1844" y="3338542"/>
            <a:ext cx="294409" cy="236419"/>
          </a:xfrm>
          <a:custGeom>
            <a:avLst/>
            <a:gdLst>
              <a:gd name="T0" fmla="*/ 861 w 1166"/>
              <a:gd name="T1" fmla="*/ 828 h 935"/>
              <a:gd name="T2" fmla="*/ 943 w 1166"/>
              <a:gd name="T3" fmla="*/ 746 h 935"/>
              <a:gd name="T4" fmla="*/ 774 w 1166"/>
              <a:gd name="T5" fmla="*/ 576 h 935"/>
              <a:gd name="T6" fmla="*/ 815 w 1166"/>
              <a:gd name="T7" fmla="*/ 437 h 935"/>
              <a:gd name="T8" fmla="*/ 552 w 1166"/>
              <a:gd name="T9" fmla="*/ 174 h 935"/>
              <a:gd name="T10" fmla="*/ 290 w 1166"/>
              <a:gd name="T11" fmla="*/ 437 h 935"/>
              <a:gd name="T12" fmla="*/ 552 w 1166"/>
              <a:gd name="T13" fmla="*/ 699 h 935"/>
              <a:gd name="T14" fmla="*/ 692 w 1166"/>
              <a:gd name="T15" fmla="*/ 658 h 935"/>
              <a:gd name="T16" fmla="*/ 861 w 1166"/>
              <a:gd name="T17" fmla="*/ 828 h 935"/>
              <a:gd name="T18" fmla="*/ 1050 w 1166"/>
              <a:gd name="T19" fmla="*/ 0 h 935"/>
              <a:gd name="T20" fmla="*/ 1165 w 1166"/>
              <a:gd name="T21" fmla="*/ 117 h 935"/>
              <a:gd name="T22" fmla="*/ 1165 w 1166"/>
              <a:gd name="T23" fmla="*/ 817 h 935"/>
              <a:gd name="T24" fmla="*/ 1050 w 1166"/>
              <a:gd name="T25" fmla="*/ 934 h 935"/>
              <a:gd name="T26" fmla="*/ 115 w 1166"/>
              <a:gd name="T27" fmla="*/ 934 h 935"/>
              <a:gd name="T28" fmla="*/ 0 w 1166"/>
              <a:gd name="T29" fmla="*/ 817 h 935"/>
              <a:gd name="T30" fmla="*/ 0 w 1166"/>
              <a:gd name="T31" fmla="*/ 117 h 935"/>
              <a:gd name="T32" fmla="*/ 115 w 1166"/>
              <a:gd name="T33" fmla="*/ 0 h 935"/>
              <a:gd name="T34" fmla="*/ 1050 w 1166"/>
              <a:gd name="T35" fmla="*/ 0 h 935"/>
              <a:gd name="T36" fmla="*/ 552 w 1166"/>
              <a:gd name="T37" fmla="*/ 292 h 935"/>
              <a:gd name="T38" fmla="*/ 700 w 1166"/>
              <a:gd name="T39" fmla="*/ 437 h 935"/>
              <a:gd name="T40" fmla="*/ 552 w 1166"/>
              <a:gd name="T41" fmla="*/ 584 h 935"/>
              <a:gd name="T42" fmla="*/ 408 w 1166"/>
              <a:gd name="T43" fmla="*/ 437 h 935"/>
              <a:gd name="T44" fmla="*/ 552 w 1166"/>
              <a:gd name="T45" fmla="*/ 292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935">
                <a:moveTo>
                  <a:pt x="861" y="828"/>
                </a:moveTo>
                <a:lnTo>
                  <a:pt x="943" y="746"/>
                </a:lnTo>
                <a:lnTo>
                  <a:pt x="774" y="576"/>
                </a:lnTo>
                <a:cubicBezTo>
                  <a:pt x="798" y="535"/>
                  <a:pt x="815" y="489"/>
                  <a:pt x="815" y="437"/>
                </a:cubicBezTo>
                <a:cubicBezTo>
                  <a:pt x="815" y="292"/>
                  <a:pt x="697" y="174"/>
                  <a:pt x="552" y="174"/>
                </a:cubicBezTo>
                <a:cubicBezTo>
                  <a:pt x="407" y="174"/>
                  <a:pt x="290" y="292"/>
                  <a:pt x="290" y="437"/>
                </a:cubicBezTo>
                <a:cubicBezTo>
                  <a:pt x="290" y="582"/>
                  <a:pt x="408" y="699"/>
                  <a:pt x="552" y="699"/>
                </a:cubicBezTo>
                <a:cubicBezTo>
                  <a:pt x="604" y="699"/>
                  <a:pt x="651" y="683"/>
                  <a:pt x="692" y="658"/>
                </a:cubicBezTo>
                <a:lnTo>
                  <a:pt x="861" y="828"/>
                </a:lnTo>
                <a:close/>
                <a:moveTo>
                  <a:pt x="1050" y="0"/>
                </a:moveTo>
                <a:cubicBezTo>
                  <a:pt x="1113" y="0"/>
                  <a:pt x="1165" y="54"/>
                  <a:pt x="1165" y="117"/>
                </a:cubicBezTo>
                <a:lnTo>
                  <a:pt x="1165" y="817"/>
                </a:lnTo>
                <a:cubicBezTo>
                  <a:pt x="1165" y="879"/>
                  <a:pt x="1113" y="934"/>
                  <a:pt x="1050" y="934"/>
                </a:cubicBezTo>
                <a:lnTo>
                  <a:pt x="115" y="934"/>
                </a:lnTo>
                <a:cubicBezTo>
                  <a:pt x="52" y="934"/>
                  <a:pt x="0" y="879"/>
                  <a:pt x="0" y="817"/>
                </a:cubicBezTo>
                <a:lnTo>
                  <a:pt x="0" y="117"/>
                </a:lnTo>
                <a:cubicBezTo>
                  <a:pt x="0" y="54"/>
                  <a:pt x="52" y="0"/>
                  <a:pt x="115" y="0"/>
                </a:cubicBezTo>
                <a:lnTo>
                  <a:pt x="1050" y="0"/>
                </a:lnTo>
                <a:close/>
                <a:moveTo>
                  <a:pt x="552" y="292"/>
                </a:moveTo>
                <a:cubicBezTo>
                  <a:pt x="632" y="292"/>
                  <a:pt x="700" y="358"/>
                  <a:pt x="700" y="437"/>
                </a:cubicBezTo>
                <a:cubicBezTo>
                  <a:pt x="700" y="516"/>
                  <a:pt x="631" y="584"/>
                  <a:pt x="552" y="584"/>
                </a:cubicBezTo>
                <a:cubicBezTo>
                  <a:pt x="472" y="584"/>
                  <a:pt x="408" y="516"/>
                  <a:pt x="408" y="437"/>
                </a:cubicBezTo>
                <a:cubicBezTo>
                  <a:pt x="408" y="358"/>
                  <a:pt x="473" y="292"/>
                  <a:pt x="552" y="29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solidFill>
                <a:srgbClr val="3835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6B2021-E684-97EA-7F1E-5C3AA328FEE7}"/>
              </a:ext>
            </a:extLst>
          </p:cNvPr>
          <p:cNvSpPr txBox="1"/>
          <p:nvPr/>
        </p:nvSpPr>
        <p:spPr>
          <a:xfrm>
            <a:off x="2024086" y="3714259"/>
            <a:ext cx="1470331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59" b="1" dirty="0">
                <a:solidFill>
                  <a:srgbClr val="FE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勤奋度圈选主播分析报告</a:t>
            </a:r>
            <a:endParaRPr lang="zh-CN" altLang="en-US" sz="1659" dirty="0">
              <a:solidFill>
                <a:srgbClr val="FE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434D90-66E3-F6EC-0006-18365F6496C8}"/>
              </a:ext>
            </a:extLst>
          </p:cNvPr>
          <p:cNvSpPr txBox="1"/>
          <p:nvPr/>
        </p:nvSpPr>
        <p:spPr>
          <a:xfrm>
            <a:off x="4316520" y="3714793"/>
            <a:ext cx="1349447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59" b="1" dirty="0">
                <a:solidFill>
                  <a:srgbClr val="FE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818</a:t>
            </a:r>
            <a:r>
              <a:rPr lang="zh-CN" altLang="en-US" sz="1659" b="1" dirty="0">
                <a:solidFill>
                  <a:srgbClr val="FE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大促日报</a:t>
            </a:r>
            <a:endParaRPr lang="zh-CN" altLang="en-US" sz="1659" dirty="0">
              <a:solidFill>
                <a:srgbClr val="FE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5061A7-6E58-B170-2345-C2406EB11E4E}"/>
              </a:ext>
            </a:extLst>
          </p:cNvPr>
          <p:cNvSpPr txBox="1"/>
          <p:nvPr/>
        </p:nvSpPr>
        <p:spPr>
          <a:xfrm>
            <a:off x="6525682" y="3714793"/>
            <a:ext cx="1349447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59" b="1" dirty="0">
                <a:solidFill>
                  <a:srgbClr val="FE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达人粉丝</a:t>
            </a:r>
            <a:r>
              <a:rPr lang="en-US" altLang="zh-CN" sz="1659" b="1" dirty="0">
                <a:solidFill>
                  <a:srgbClr val="FE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UA</a:t>
            </a:r>
            <a:r>
              <a:rPr lang="zh-CN" altLang="en-US" sz="1659" b="1" dirty="0">
                <a:solidFill>
                  <a:srgbClr val="FE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对</a:t>
            </a:r>
            <a:endParaRPr lang="zh-CN" altLang="en-US" sz="1659" dirty="0">
              <a:solidFill>
                <a:srgbClr val="FE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E293889-0708-54E8-F8CD-F6BCA56AC2A9}"/>
              </a:ext>
            </a:extLst>
          </p:cNvPr>
          <p:cNvSpPr txBox="1"/>
          <p:nvPr/>
        </p:nvSpPr>
        <p:spPr>
          <a:xfrm>
            <a:off x="8734844" y="3714793"/>
            <a:ext cx="1349447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59" b="1" dirty="0">
                <a:solidFill>
                  <a:srgbClr val="FE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日报业绩达成</a:t>
            </a:r>
            <a:endParaRPr lang="zh-CN" altLang="en-US" sz="1659" dirty="0">
              <a:solidFill>
                <a:srgbClr val="FE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175894-31AF-DA0B-60DD-6A3FF7C1BF99}"/>
              </a:ext>
            </a:extLst>
          </p:cNvPr>
          <p:cNvSpPr/>
          <p:nvPr/>
        </p:nvSpPr>
        <p:spPr>
          <a:xfrm>
            <a:off x="669052" y="433233"/>
            <a:ext cx="82296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68C264-CA68-5B59-198D-9D206FABA24D}"/>
              </a:ext>
            </a:extLst>
          </p:cNvPr>
          <p:cNvSpPr/>
          <p:nvPr/>
        </p:nvSpPr>
        <p:spPr>
          <a:xfrm>
            <a:off x="820145" y="341793"/>
            <a:ext cx="89611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zh-CN" altLang="en-US" sz="280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复盘不该花3.5小时：把分析框架喂给AI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7185CFE-CCFF-4603-FA33-6452E80A6152}"/>
              </a:ext>
            </a:extLst>
          </p:cNvPr>
          <p:cNvSpPr/>
          <p:nvPr/>
        </p:nvSpPr>
        <p:spPr>
          <a:xfrm>
            <a:off x="820145" y="1128177"/>
            <a:ext cx="10698480" cy="146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5334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3402"/>
            <a:ext cx="9601200" cy="4893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80" b="1">
                <a:solidFill>
                  <a:srgbClr val="1F4E79"/>
                </a:solidFill>
                <a:latin typeface="微软雅黑"/>
              </a:rPr>
              <a:t>技术和业务的融合点：把BR下拆框架喂给Agent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05841" y="1000601"/>
            <a:ext cx="10241279" cy="0"/>
          </a:xfrm>
          <a:prstGeom prst="line">
            <a:avLst/>
          </a:prstGeom>
          <a:ln w="19050">
            <a:solidFill>
              <a:srgbClr val="107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822960" y="1183481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ctr">
              <a:spcAft>
                <a:spcPts val="300"/>
              </a:spcAft>
            </a:pPr>
            <a:r>
              <a:rPr sz="2200" b="1" dirty="0">
                <a:solidFill>
                  <a:srgbClr val="1F4E79"/>
                </a:solidFill>
                <a:latin typeface="微软雅黑"/>
              </a:rPr>
              <a:t>3.5h → 25min</a:t>
            </a:r>
          </a:p>
          <a:p>
            <a:pPr algn="ctr"/>
            <a:r>
              <a:rPr sz="105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6个场景已交付</a:t>
            </a:r>
            <a:r>
              <a:rPr lang="zh-CN" altLang="en-US" sz="105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组内</a:t>
            </a:r>
            <a:r>
              <a:rPr sz="1050" b="1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endParaRPr sz="1050" b="1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069080" y="1183481"/>
            <a:ext cx="7269480" cy="9601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>
              <a:spcAft>
                <a:spcPts val="200"/>
              </a:spcAft>
            </a:pPr>
            <a:r>
              <a:rPr sz="115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沉淀的不只是省时间：</a:t>
            </a:r>
            <a:r>
              <a:rPr lang="en-US" altLang="zh-CN" sz="115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skill</a:t>
            </a:r>
            <a:r>
              <a:rPr sz="115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变成</a:t>
            </a:r>
            <a:r>
              <a:rPr lang="zh-CN" altLang="en-US" sz="115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组内</a:t>
            </a:r>
            <a:r>
              <a:rPr sz="115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资产，一周省约20人时；</a:t>
            </a:r>
          </a:p>
          <a:p>
            <a:pPr algn="l"/>
            <a:r>
              <a:rPr sz="110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口径固化每次一致，消除人为拖错行</a:t>
            </a:r>
            <a:endParaRPr lang="en-US" sz="11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zh-CN" altLang="en-US" sz="11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解决</a:t>
            </a:r>
            <a:r>
              <a:rPr lang="en-US" altLang="zh-CN" sz="11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1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跳步骤，虚假输出“已执行”结论</a:t>
            </a:r>
            <a:endParaRPr sz="11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326481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微软雅黑"/>
              </a:rPr>
              <a:t>大量BR复盘沉淀出的电商大盘下拆框架——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19673"/>
            <a:ext cx="3383280" cy="38404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</a:rPr>
              <a:t>供给侧　GMV = 动销商家数 × 店效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76873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595959"/>
                </a:solidFill>
                <a:latin typeface="微软雅黑"/>
              </a:rPr>
              <a:t>按品类 / 行业 / 大场底场 / 商家分层下钻</a:t>
            </a:r>
          </a:p>
          <a:p>
            <a:pPr algn="l"/>
            <a:r>
              <a:rPr sz="1050" b="1">
                <a:solidFill>
                  <a:srgbClr val="1F4E79"/>
                </a:solidFill>
                <a:latin typeface="微软雅黑"/>
              </a:rPr>
              <a:t>盯勤奋度：开播主播数 · 人日均推流时长 · 挂车短视频 · 上架商品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19673"/>
            <a:ext cx="3383280" cy="38404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</a:rPr>
              <a:t>流量侧　GMV = 曝光 × GPM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176873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595959"/>
                </a:solidFill>
                <a:latin typeface="微软雅黑"/>
              </a:rPr>
              <a:t>按内容场 / 泛货架、自然 / 商业化流量、关注页 / 单双列定位</a:t>
            </a:r>
          </a:p>
          <a:p>
            <a:pPr algn="l"/>
            <a:r>
              <a:rPr sz="1050" b="1">
                <a:solidFill>
                  <a:srgbClr val="1F4E79"/>
                </a:solidFill>
                <a:latin typeface="微软雅黑"/>
              </a:rPr>
              <a:t>GPM = CTR × CVR × ARPPU，定位哪个入口在掉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719673"/>
            <a:ext cx="3383280" cy="38404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</a:rPr>
              <a:t>用户侧　GMV = 活跃用户 × ARPU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176873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595959"/>
                </a:solidFill>
                <a:latin typeface="微软雅黑"/>
              </a:rPr>
              <a:t>新老客结构 · 频次分层流转 · 行为质量</a:t>
            </a:r>
          </a:p>
          <a:p>
            <a:pPr algn="l"/>
            <a:r>
              <a:rPr sz="1050" b="1">
                <a:solidFill>
                  <a:srgbClr val="1F4E79"/>
                </a:solidFill>
                <a:latin typeface="微软雅黑"/>
              </a:rPr>
              <a:t>盯高频用户流失（1/4买家贡献近8成GMV）、补贴新回用户质量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95361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>
                <a:solidFill>
                  <a:srgbClr val="595959"/>
                </a:solidFill>
                <a:latin typeface="微软雅黑"/>
              </a:rPr>
              <a:t>BR排查四步：发现下滑环节 → 定位下降指标 → 下钻具体类型 → 定位具体问题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2561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>
              <a:spcAft>
                <a:spcPts val="500"/>
              </a:spcAft>
            </a:pPr>
            <a:r>
              <a:rPr lang="zh-CN" altLang="en-US" sz="13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下一步计划</a:t>
            </a:r>
            <a:r>
              <a:rPr sz="13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1300" b="1" dirty="0">
                <a:solidFill>
                  <a:srgbClr val="FFFFFF"/>
                </a:solidFill>
                <a:latin typeface="微软雅黑"/>
                <a:ea typeface="Microsoft YaHei" panose="020B0503020204020204" pitchFamily="34" charset="-122"/>
              </a:rPr>
              <a:t>部分取数分析</a:t>
            </a:r>
            <a:r>
              <a:rPr sz="1300" b="1" dirty="0" err="1">
                <a:solidFill>
                  <a:srgbClr val="FFFFFF"/>
                </a:solidFill>
                <a:latin typeface="微软雅黑"/>
              </a:rPr>
              <a:t>场景已自动化，下一步把BR下拆框架融入Agent</a:t>
            </a:r>
            <a:r>
              <a:rPr sz="1300" b="1" dirty="0">
                <a:solidFill>
                  <a:srgbClr val="FFFFFF"/>
                </a:solidFill>
                <a:latin typeface="微软雅黑"/>
              </a:rPr>
              <a:t> ——</a:t>
            </a:r>
          </a:p>
          <a:p>
            <a:pPr algn="l"/>
            <a:r>
              <a:rPr sz="1150" dirty="0" err="1">
                <a:solidFill>
                  <a:srgbClr val="FFFFFF"/>
                </a:solidFill>
                <a:latin typeface="微软雅黑"/>
              </a:rPr>
              <a:t>经营分析agent：问一个问题，自动取数、按框架下钻到具体问题</a:t>
            </a:r>
            <a:r>
              <a:rPr sz="1150" dirty="0">
                <a:solidFill>
                  <a:srgbClr val="FFFFFF"/>
                </a:solidFill>
                <a:latin typeface="微软雅黑"/>
              </a:rPr>
              <a:t> ｜ </a:t>
            </a:r>
            <a:r>
              <a:rPr sz="1150" dirty="0" err="1">
                <a:solidFill>
                  <a:srgbClr val="FFFFFF"/>
                </a:solidFill>
                <a:latin typeface="微软雅黑"/>
              </a:rPr>
              <a:t>框架是agent的大脑，agent是框架的手脚</a:t>
            </a:r>
            <a:endParaRPr sz="1150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25113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258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灵顺：</a:t>
            </a:r>
            <a:r>
              <a:rPr sz="2580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AI到底增不增产</a:t>
            </a:r>
            <a:r>
              <a:rPr sz="258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？——</a:t>
            </a:r>
            <a:r>
              <a:rPr sz="2580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验证净效果，输出分型推全策略</a:t>
            </a:r>
            <a:endParaRPr sz="2580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1005841" y="1018889"/>
            <a:ext cx="10241279" cy="0"/>
          </a:xfrm>
          <a:prstGeom prst="line">
            <a:avLst/>
          </a:prstGeom>
          <a:ln w="19050">
            <a:solidFill>
              <a:srgbClr val="107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320642"/>
            <a:ext cx="42062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微软雅黑"/>
              </a:rPr>
              <a:t>挑战与方法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2121"/>
            <a:ext cx="4206240" cy="93268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F4E79"/>
                </a:solidFill>
                <a:latin typeface="微软雅黑"/>
              </a:rPr>
              <a:t>痛点：长尾商家无人运营 · 小二覆盖不过来</a:t>
            </a:r>
          </a:p>
          <a:p>
            <a:pPr algn="l"/>
            <a:r>
              <a:rPr sz="900">
                <a:solidFill>
                  <a:srgbClr val="595959"/>
                </a:solidFill>
                <a:latin typeface="微软雅黑"/>
              </a:rPr>
              <a:t>AI工具能否激活商家，需实验验证（我负责效果验证与商家分析，与带教两人负责一期）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864" y="2893409"/>
            <a:ext cx="4206240" cy="58521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>
              <a:spcAft>
                <a:spcPts val="100"/>
              </a:spcAft>
            </a:pPr>
            <a:r>
              <a:rPr sz="125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14.7万商家池</a:t>
            </a:r>
            <a:r>
              <a:rPr lang="zh-CN" altLang="en-US" sz="125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分析得到总体商家和分型商家画像</a:t>
            </a:r>
            <a:endParaRPr sz="1250" b="1" dirty="0">
              <a:solidFill>
                <a:srgbClr val="1F4E79"/>
              </a:solidFill>
              <a:latin typeface="微软雅黑"/>
            </a:endParaRPr>
          </a:p>
          <a:p>
            <a:pPr algn="l"/>
            <a:r>
              <a:rPr sz="900" dirty="0">
                <a:solidFill>
                  <a:srgbClr val="595959"/>
                </a:solidFill>
                <a:latin typeface="微软雅黑"/>
              </a:rPr>
              <a:t>近90天有动销 · </a:t>
            </a:r>
            <a:r>
              <a:rPr sz="900" dirty="0" err="1">
                <a:solidFill>
                  <a:srgbClr val="595959"/>
                </a:solidFill>
                <a:latin typeface="微软雅黑"/>
              </a:rPr>
              <a:t>无人运营</a:t>
            </a:r>
            <a:endParaRPr sz="900" dirty="0">
              <a:solidFill>
                <a:srgbClr val="595959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97480" y="3432906"/>
            <a:ext cx="365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微软雅黑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07225"/>
            <a:ext cx="4206240" cy="58521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>
              <a:spcAft>
                <a:spcPts val="100"/>
              </a:spcAft>
            </a:pPr>
            <a:r>
              <a:rPr sz="1250" b="1">
                <a:solidFill>
                  <a:srgbClr val="1F4E79"/>
                </a:solidFill>
                <a:latin typeface="微软雅黑"/>
              </a:rPr>
              <a:t>圈选 7.9万 · AB双组隔离</a:t>
            </a:r>
          </a:p>
          <a:p>
            <a:pPr algn="l"/>
            <a:r>
              <a:rPr sz="900">
                <a:solidFill>
                  <a:srgbClr val="595959"/>
                </a:solidFill>
                <a:latin typeface="微软雅黑"/>
              </a:rPr>
              <a:t>按场域分型同质同量 · 完全隔离防溢出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75321"/>
            <a:ext cx="4206240" cy="175564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F4E79"/>
                </a:solidFill>
                <a:latin typeface="微软雅黑"/>
              </a:rPr>
              <a:t>挑战：大盘整体下行，两组都在跌</a:t>
            </a:r>
          </a:p>
          <a:p>
            <a:pPr>
              <a:spcAft>
                <a:spcPts val="700"/>
              </a:spcAft>
            </a:pPr>
            <a:r>
              <a:rPr sz="950">
                <a:solidFill>
                  <a:srgbClr val="595959"/>
                </a:solidFill>
                <a:latin typeface="微软雅黑"/>
              </a:rPr>
              <a:t>直接对比 = 把大盘的跌，算成AI的功劳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F4E79"/>
                </a:solidFill>
                <a:latin typeface="微软雅黑"/>
              </a:rPr>
              <a:t>DID双重差分：剔掉大盘趋势，只算AI净效果</a:t>
            </a:r>
          </a:p>
          <a:p>
            <a:pPr algn="l"/>
            <a:r>
              <a:rPr sz="900">
                <a:solidFill>
                  <a:srgbClr val="595959"/>
                </a:solidFill>
                <a:latin typeface="微软雅黑"/>
              </a:rPr>
              <a:t>配套：平行趋势检验 · 极值压缩 · 政策商家剥离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320642"/>
            <a:ext cx="598932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微软雅黑"/>
              </a:rPr>
              <a:t>结论与策略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732121"/>
            <a:ext cx="1901952" cy="11887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微软雅黑"/>
              </a:rPr>
              <a:t>有用</a:t>
            </a:r>
          </a:p>
          <a:p>
            <a:pPr algn="ctr">
              <a:spcAft>
                <a:spcPts val="200"/>
              </a:spcAft>
            </a:pPr>
            <a:r>
              <a:rPr sz="1650" b="1">
                <a:solidFill>
                  <a:srgbClr val="1F4E79"/>
                </a:solidFill>
                <a:latin typeface="微软雅黑"/>
              </a:rPr>
              <a:t>+26.3%</a:t>
            </a:r>
          </a:p>
          <a:p>
            <a:pPr algn="ctr"/>
            <a:r>
              <a:rPr sz="850">
                <a:solidFill>
                  <a:srgbClr val="595959"/>
                </a:solidFill>
                <a:latin typeface="微软雅黑"/>
              </a:rPr>
              <a:t>DID净效应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34072" y="1732121"/>
            <a:ext cx="1901952" cy="11887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ctr">
              <a:spcAft>
                <a:spcPts val="200"/>
              </a:spcAft>
            </a:pPr>
            <a:r>
              <a:rPr sz="950" b="1" dirty="0" err="1">
                <a:solidFill>
                  <a:srgbClr val="595959"/>
                </a:solidFill>
                <a:latin typeface="微软雅黑"/>
              </a:rPr>
              <a:t>抗跌</a:t>
            </a:r>
            <a:endParaRPr sz="950" b="1" dirty="0">
              <a:solidFill>
                <a:srgbClr val="595959"/>
              </a:solidFill>
              <a:latin typeface="微软雅黑"/>
            </a:endParaRPr>
          </a:p>
          <a:p>
            <a:pPr algn="ctr">
              <a:spcAft>
                <a:spcPts val="200"/>
              </a:spcAft>
            </a:pPr>
            <a:r>
              <a:rPr sz="1650" b="1" dirty="0">
                <a:solidFill>
                  <a:srgbClr val="1F4E79"/>
                </a:solidFill>
                <a:latin typeface="微软雅黑"/>
              </a:rPr>
              <a:t>少跌</a:t>
            </a:r>
            <a:r>
              <a:rPr lang="en-US" altLang="zh-CN" sz="1650" b="1" dirty="0">
                <a:solidFill>
                  <a:srgbClr val="1F4E79"/>
                </a:solidFill>
                <a:latin typeface="微软雅黑"/>
              </a:rPr>
              <a:t>5</a:t>
            </a:r>
            <a:r>
              <a:rPr sz="1650" b="1" dirty="0">
                <a:solidFill>
                  <a:srgbClr val="1F4E79"/>
                </a:solidFill>
                <a:latin typeface="微软雅黑"/>
              </a:rPr>
              <a:t>pp</a:t>
            </a:r>
          </a:p>
          <a:p>
            <a:pPr algn="ctr"/>
            <a:r>
              <a:rPr sz="850" dirty="0">
                <a:solidFill>
                  <a:srgbClr val="595959"/>
                </a:solidFill>
                <a:latin typeface="微软雅黑"/>
              </a:rPr>
              <a:t>大盘-9.62% vs 渗透-5.3%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73184" y="1732121"/>
            <a:ext cx="1901952" cy="11887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微软雅黑"/>
              </a:rPr>
              <a:t>决策</a:t>
            </a:r>
          </a:p>
          <a:p>
            <a:pPr algn="ctr">
              <a:spcAft>
                <a:spcPts val="200"/>
              </a:spcAft>
            </a:pPr>
            <a:r>
              <a:rPr sz="1650" b="1">
                <a:solidFill>
                  <a:srgbClr val="1F4E79"/>
                </a:solidFill>
                <a:latin typeface="微软雅黑"/>
              </a:rPr>
              <a:t>灰度推全</a:t>
            </a:r>
          </a:p>
          <a:p>
            <a:pPr algn="ctr"/>
            <a:r>
              <a:rPr sz="850">
                <a:solidFill>
                  <a:srgbClr val="595959"/>
                </a:solidFill>
                <a:latin typeface="微软雅黑"/>
              </a:rPr>
              <a:t>结论直接支撑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085433"/>
            <a:ext cx="5989320" cy="566928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核心洞察：AI放大的是经营意愿 —— 很难凭空造商家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3816953"/>
            <a:ext cx="1901952" cy="15727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705856" y="3972401"/>
            <a:ext cx="1280160" cy="310896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优先推全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383881"/>
            <a:ext cx="1901952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/>
              </a:rPr>
              <a:t>泛货架型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4786218"/>
            <a:ext cx="1792224" cy="4103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>
                <a:solidFill>
                  <a:srgbClr val="595959"/>
                </a:solidFill>
                <a:latin typeface="微软雅黑"/>
              </a:rPr>
              <a:t>DID +36.2%</a:t>
            </a:r>
          </a:p>
          <a:p>
            <a:pPr algn="ctr"/>
            <a:r>
              <a:rPr sz="950">
                <a:solidFill>
                  <a:srgbClr val="595959"/>
                </a:solidFill>
                <a:latin typeface="微软雅黑"/>
              </a:rPr>
              <a:t>57%从0拉到1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34072" y="3816953"/>
            <a:ext cx="1901952" cy="15727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44968" y="3972401"/>
            <a:ext cx="1280160" cy="310896"/>
          </a:xfrm>
          <a:prstGeom prst="roundRect">
            <a:avLst>
              <a:gd name="adj" fmla="val 30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ctr"/>
            <a:r>
              <a:rPr sz="950" b="1">
                <a:solidFill>
                  <a:srgbClr val="1F4E79"/>
                </a:solidFill>
                <a:latin typeface="微软雅黑"/>
              </a:rPr>
              <a:t>筛选渗透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4383881"/>
            <a:ext cx="1901952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/>
              </a:rPr>
              <a:t>直播型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4786218"/>
            <a:ext cx="1792224" cy="4103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>
                <a:solidFill>
                  <a:srgbClr val="595959"/>
                </a:solidFill>
                <a:latin typeface="微软雅黑"/>
              </a:rPr>
              <a:t>有开播基础</a:t>
            </a:r>
          </a:p>
          <a:p>
            <a:pPr algn="ctr"/>
            <a:r>
              <a:rPr sz="950">
                <a:solidFill>
                  <a:srgbClr val="595959"/>
                </a:solidFill>
                <a:latin typeface="微软雅黑"/>
              </a:rPr>
              <a:t>双工具协同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73184" y="3816953"/>
            <a:ext cx="1901952" cy="15727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784080" y="3972401"/>
            <a:ext cx="1280160" cy="31089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ctr"/>
            <a:r>
              <a:rPr sz="950" b="1">
                <a:solidFill>
                  <a:srgbClr val="595959"/>
                </a:solidFill>
                <a:latin typeface="微软雅黑"/>
              </a:rPr>
              <a:t>先补内容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3184" y="4383881"/>
            <a:ext cx="1901952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/>
              </a:rPr>
              <a:t>短视频型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4786218"/>
            <a:ext cx="1792224" cy="4103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>
                <a:solidFill>
                  <a:srgbClr val="595959"/>
                </a:solidFill>
                <a:latin typeface="微软雅黑"/>
              </a:rPr>
              <a:t>勤奋度提升</a:t>
            </a:r>
          </a:p>
          <a:p>
            <a:pPr algn="ctr"/>
            <a:r>
              <a:rPr sz="950">
                <a:solidFill>
                  <a:srgbClr val="595959"/>
                </a:solidFill>
                <a:latin typeface="微软雅黑"/>
              </a:rPr>
              <a:t>GMV正增仅39%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5554313"/>
            <a:ext cx="5989320" cy="67665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F4E79"/>
                </a:solidFill>
                <a:latin typeface="微软雅黑"/>
              </a:rPr>
              <a:t>输出：分型推广策略 → 灰度推全（泛货架优先）→ 进入H2推全方案</a:t>
            </a:r>
          </a:p>
          <a:p>
            <a:pPr algn="l"/>
            <a:r>
              <a:rPr sz="900">
                <a:solidFill>
                  <a:srgbClr val="595959"/>
                </a:solidFill>
                <a:latin typeface="微软雅黑"/>
              </a:rPr>
              <a:t>AB组验证因果效应 · AA组验证下行韧性 —— 两个框架互补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350E8-82D7-E5E5-8CE0-70D07960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cell data - do not delete" hidden="1">
            <a:extLst>
              <a:ext uri="{FF2B5EF4-FFF2-40B4-BE49-F238E27FC236}">
                <a16:creationId xmlns:a16="http://schemas.microsoft.com/office/drawing/2014/main" id="{BBC44D84-7529-06C4-8DF2-FFD97FD919A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56692"/>
              </p:ext>
            </p:extLst>
          </p:nvPr>
        </p:nvGraphicFramePr>
        <p:xfrm>
          <a:off x="1589" y="27066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4" imgW="7772400" imgH="10058400" progId="TCLayout.ActiveDocument.1">
                  <p:embed/>
                </p:oleObj>
              </mc:Choice>
              <mc:Fallback>
                <p:oleObj name="thinkcell 幻灯片" r:id="rId4" imgW="7772400" imgH="10058400" progId="TCLayout.ActiveDocument.1">
                  <p:embed/>
                  <p:pic>
                    <p:nvPicPr>
                      <p:cNvPr id="10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BBC44D84-7529-06C4-8DF2-FFD97FD919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27066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041E5BCA-B0E6-3F2C-9283-971B0CE1B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60" y="579977"/>
            <a:ext cx="11418162" cy="641173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5CF74747-AD50-E717-E258-95E47421C025}"/>
              </a:ext>
            </a:extLst>
          </p:cNvPr>
          <p:cNvSpPr txBox="1"/>
          <p:nvPr/>
        </p:nvSpPr>
        <p:spPr>
          <a:xfrm>
            <a:off x="838200" y="186785"/>
            <a:ext cx="10515600" cy="4893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258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灵顺｜思考结构</a:t>
            </a:r>
            <a:endParaRPr sz="2580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Connector 2">
            <a:extLst>
              <a:ext uri="{FF2B5EF4-FFF2-40B4-BE49-F238E27FC236}">
                <a16:creationId xmlns:a16="http://schemas.microsoft.com/office/drawing/2014/main" id="{84E8E218-4877-FDC8-1366-82570A2505C9}"/>
              </a:ext>
            </a:extLst>
          </p:cNvPr>
          <p:cNvCxnSpPr/>
          <p:nvPr/>
        </p:nvCxnSpPr>
        <p:spPr>
          <a:xfrm>
            <a:off x="784598" y="689705"/>
            <a:ext cx="10241279" cy="0"/>
          </a:xfrm>
          <a:prstGeom prst="line">
            <a:avLst/>
          </a:prstGeom>
          <a:ln w="19050">
            <a:solidFill>
              <a:srgbClr val="107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7F3E2042-574C-4100-FC18-84BBEE807A4E}"/>
              </a:ext>
            </a:extLst>
          </p:cNvPr>
          <p:cNvSpPr/>
          <p:nvPr/>
        </p:nvSpPr>
        <p:spPr>
          <a:xfrm>
            <a:off x="747108" y="99810"/>
            <a:ext cx="82296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2532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3402"/>
            <a:ext cx="9601200" cy="4893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80" b="1">
                <a:solidFill>
                  <a:srgbClr val="1F4E79"/>
                </a:solidFill>
                <a:latin typeface="微软雅黑"/>
              </a:rPr>
              <a:t>我看见的边界，和我想去的两头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05841" y="1000601"/>
            <a:ext cx="10241279" cy="0"/>
          </a:xfrm>
          <a:prstGeom prst="line">
            <a:avLst/>
          </a:prstGeom>
          <a:ln w="19050">
            <a:solidFill>
              <a:srgbClr val="107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822960" y="1503521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</a:rPr>
              <a:t>一个边界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595959"/>
                </a:solidFill>
                <a:latin typeface="微软雅黑"/>
              </a:rPr>
              <a:t>"AI有没有用" —— 数据能回答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595959"/>
                </a:solidFill>
                <a:latin typeface="微软雅黑"/>
              </a:rPr>
              <a:t>"为什么对短视频型没用" —— 答案在内容质量里、在商家的经营意愿里，不在数据里</a:t>
            </a:r>
          </a:p>
          <a:p>
            <a:pPr algn="l"/>
            <a:r>
              <a:rPr sz="1300" b="1">
                <a:solidFill>
                  <a:srgbClr val="1F4E79"/>
                </a:solidFill>
                <a:latin typeface="微软雅黑"/>
              </a:rPr>
              <a:t>分析要往业务里走，不是往数据里钻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03521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</a:rPr>
              <a:t>一个定位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595959"/>
                </a:solidFill>
                <a:latin typeface="微软雅黑"/>
              </a:rPr>
              <a:t>把业务问题翻译成可验证的分析问题，再把结论翻译回可执行的业务动作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595959"/>
                </a:solidFill>
                <a:latin typeface="微软雅黑"/>
              </a:rPr>
              <a:t>AI拉平"会做分析"的门槛后，稀缺的是两头：问题定义 × 业务判断</a:t>
            </a:r>
          </a:p>
          <a:p>
            <a:pPr algn="l"/>
            <a:r>
              <a:rPr sz="1300" b="1">
                <a:solidFill>
                  <a:srgbClr val="1F4E79"/>
                </a:solidFill>
                <a:latin typeface="微软雅黑"/>
              </a:rPr>
              <a:t>我想往两头走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181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微软雅黑"/>
              </a:rPr>
              <a:t>下一步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356449"/>
            <a:ext cx="10515600" cy="51206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300" b="1" dirty="0">
                <a:solidFill>
                  <a:srgbClr val="1F4E79"/>
                </a:solidFill>
                <a:latin typeface="微软雅黑"/>
              </a:rPr>
              <a:t>1  </a:t>
            </a:r>
            <a:r>
              <a:rPr lang="zh-CN" altLang="en-US" sz="130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继续跟带教一起产出深度的专题分析，希望能多输出能让业务有效落地的策略建议</a:t>
            </a:r>
            <a:endParaRPr sz="1300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4978240"/>
            <a:ext cx="10515600" cy="51206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300" b="1" dirty="0">
                <a:solidFill>
                  <a:srgbClr val="1F4E79"/>
                </a:solidFill>
                <a:latin typeface="微软雅黑"/>
              </a:rPr>
              <a:t>2  </a:t>
            </a:r>
            <a:r>
              <a:rPr sz="1300" b="1" dirty="0" err="1">
                <a:solidFill>
                  <a:srgbClr val="1F4E79"/>
                </a:solidFill>
                <a:latin typeface="微软雅黑"/>
              </a:rPr>
              <a:t>把BR下拆框架融入Agent</a:t>
            </a:r>
            <a:r>
              <a:rPr sz="130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130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</a:t>
            </a:r>
            <a:r>
              <a:rPr sz="1300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经营分析agent，问一个问题</a:t>
            </a:r>
            <a:r>
              <a:rPr sz="130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300" b="1" dirty="0">
                <a:solidFill>
                  <a:srgbClr val="1F4E79"/>
                </a:solidFill>
                <a:latin typeface="微软雅黑"/>
              </a:rPr>
              <a:t>→ </a:t>
            </a:r>
            <a:r>
              <a:rPr sz="1300" b="1" dirty="0" err="1">
                <a:solidFill>
                  <a:srgbClr val="1F4E79"/>
                </a:solidFill>
                <a:latin typeface="微软雅黑"/>
              </a:rPr>
              <a:t>自动取数、下钻到具体问题</a:t>
            </a:r>
            <a:endParaRPr sz="1300" b="1" dirty="0">
              <a:solidFill>
                <a:srgbClr val="1F4E79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5600033"/>
            <a:ext cx="10515600" cy="51206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300" b="1" dirty="0">
                <a:solidFill>
                  <a:srgbClr val="1F4E79"/>
                </a:solidFill>
                <a:latin typeface="微软雅黑"/>
              </a:rPr>
              <a:t>3  </a:t>
            </a:r>
            <a:r>
              <a:rPr lang="zh-CN" altLang="en-US" sz="130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最后</a:t>
            </a:r>
            <a:r>
              <a:rPr sz="1300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</a:t>
            </a:r>
            <a:r>
              <a:rPr lang="zh-CN" altLang="en-US" sz="130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知识库</a:t>
            </a:r>
            <a:r>
              <a:rPr sz="1300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与校验闭环</a:t>
            </a:r>
            <a:r>
              <a:rPr lang="zh-CN" altLang="en-US" sz="1300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作为</a:t>
            </a:r>
            <a:r>
              <a:rPr sz="1300" b="1" dirty="0" err="1">
                <a:solidFill>
                  <a:srgbClr val="1F4E79"/>
                </a:solidFill>
                <a:latin typeface="微软雅黑"/>
              </a:rPr>
              <a:t>agent准确度的地基，业务沉淀到哪里，AI接管到哪里</a:t>
            </a:r>
            <a:endParaRPr sz="1300" b="1" dirty="0">
              <a:solidFill>
                <a:srgbClr val="1F4E79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6258402"/>
            <a:ext cx="10515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 dirty="0" err="1">
                <a:solidFill>
                  <a:srgbClr val="1F4E79"/>
                </a:solidFill>
                <a:latin typeface="微软雅黑"/>
              </a:rPr>
              <a:t>谢谢老师，欢迎提问</a:t>
            </a:r>
            <a:endParaRPr sz="1500" b="1" dirty="0">
              <a:solidFill>
                <a:srgbClr val="1F4E79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商务蓝色">
      <a:dk1>
        <a:srgbClr val="383535"/>
      </a:dk1>
      <a:lt1>
        <a:srgbClr val="FEFFFF"/>
      </a:lt1>
      <a:dk2>
        <a:srgbClr val="9EA0A0"/>
      </a:dk2>
      <a:lt2>
        <a:srgbClr val="EFEFEF"/>
      </a:lt2>
      <a:accent1>
        <a:srgbClr val="234499"/>
      </a:accent1>
      <a:accent2>
        <a:srgbClr val="4473C5"/>
      </a:accent2>
      <a:accent3>
        <a:srgbClr val="5E91CE"/>
      </a:accent3>
      <a:accent4>
        <a:srgbClr val="89BAE4"/>
      </a:accent4>
      <a:accent5>
        <a:srgbClr val="9FA0A0"/>
      </a:accent5>
      <a:accent6>
        <a:srgbClr val="EFEFEF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711</Words>
  <Application>Microsoft Macintosh PowerPoint</Application>
  <PresentationFormat>宽屏</PresentationFormat>
  <Paragraphs>108</Paragraphs>
  <Slides>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等线</vt:lpstr>
      <vt:lpstr>等线 Light</vt:lpstr>
      <vt:lpstr>微软雅黑</vt:lpstr>
      <vt:lpstr>微软雅黑</vt:lpstr>
      <vt:lpstr>Arial</vt:lpstr>
      <vt:lpstr>Calibri</vt:lpstr>
      <vt:lpstr>Office Theme</vt:lpstr>
      <vt:lpstr>Office 主题​​</vt:lpstr>
      <vt:lpstr>thinkcell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shaw</cp:lastModifiedBy>
  <cp:revision>30</cp:revision>
  <dcterms:created xsi:type="dcterms:W3CDTF">2013-01-27T09:14:16Z</dcterms:created>
  <dcterms:modified xsi:type="dcterms:W3CDTF">2026-10-25T14:43:24Z</dcterms:modified>
  <cp:category/>
</cp:coreProperties>
</file>